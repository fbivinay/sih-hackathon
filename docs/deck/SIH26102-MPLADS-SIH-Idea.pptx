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38"/>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9/5/2026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9/5/2026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9/5/2026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9/5/2026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9/5/2026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9/5/2026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9/5/2026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nSpc>
                <a:spcPct val="120000"/>
              </a:lnSpc>
              <a:spcAft>
                <a:spcPts val="700"/>
              </a:spcAft>
            </a:pPr>
            <a:r>
              <a:rPr sz="1300" b="1">
                <a:solidFill>
                  <a:srgbClr val="101828"/>
                </a:solidFill>
                <a:latin typeface="Calibri"/>
              </a:rPr>
              <a:t>Problem Statement ID – </a:t>
            </a:r>
            <a:r>
              <a:rPr sz="1200">
                <a:solidFill>
                  <a:srgbClr val="5A6472"/>
                </a:solidFill>
                <a:latin typeface="Calibri"/>
              </a:rPr>
              <a:t>SIH26102</a:t>
            </a:r>
            <a:endParaRPr lang="en-US" dirty="0"/>
          </a:p>
          <a:p>
            <a:pPr>
              <a:lnSpc>
                <a:spcPct val="120000"/>
              </a:lnSpc>
              <a:spcAft>
                <a:spcPts val="700"/>
              </a:spcAft>
            </a:pPr>
            <a:r>
              <a:rPr sz="1300" b="1">
                <a:solidFill>
                  <a:srgbClr val="101828"/>
                </a:solidFill>
                <a:latin typeface="Calibri"/>
              </a:rPr>
              <a:t>Problem Statement Title – </a:t>
            </a:r>
            <a:r>
              <a:rPr sz="1050">
                <a:solidFill>
                  <a:srgbClr val="5A6472"/>
                </a:solidFill>
                <a:latin typeface="Calibri"/>
              </a:rPr>
              <a:t>Development of an AI-powered system to detect anomalies, fraud, and inefficiencies in MPLAD Scheme implementation regd.</a:t>
            </a:r>
          </a:p>
          <a:p>
            <a:pPr>
              <a:lnSpc>
                <a:spcPct val="120000"/>
              </a:lnSpc>
              <a:spcAft>
                <a:spcPts val="700"/>
              </a:spcAft>
            </a:pPr>
            <a:r>
              <a:rPr sz="1300" b="1">
                <a:solidFill>
                  <a:srgbClr val="101828"/>
                </a:solidFill>
                <a:latin typeface="Calibri"/>
              </a:rPr>
              <a:t>Theme – </a:t>
            </a:r>
            <a:r>
              <a:rPr sz="1200">
                <a:solidFill>
                  <a:srgbClr val="5A6472"/>
                </a:solidFill>
                <a:latin typeface="Calibri"/>
              </a:rPr>
              <a:t>Smart Automation</a:t>
            </a:r>
          </a:p>
          <a:p>
            <a:pPr>
              <a:lnSpc>
                <a:spcPct val="120000"/>
              </a:lnSpc>
              <a:spcAft>
                <a:spcPts val="700"/>
              </a:spcAft>
            </a:pPr>
            <a:r>
              <a:rPr sz="1300" b="1">
                <a:solidFill>
                  <a:srgbClr val="101828"/>
                </a:solidFill>
                <a:latin typeface="Calibri"/>
              </a:rPr>
              <a:t>PS Category – </a:t>
            </a:r>
            <a:r>
              <a:rPr sz="1200">
                <a:solidFill>
                  <a:srgbClr val="5A6472"/>
                </a:solidFill>
                <a:latin typeface="Calibri"/>
              </a:rPr>
              <a:t>Software</a:t>
            </a:r>
          </a:p>
          <a:p>
            <a:pPr>
              <a:lnSpc>
                <a:spcPct val="120000"/>
              </a:lnSpc>
              <a:spcAft>
                <a:spcPts val="700"/>
              </a:spcAft>
            </a:pPr>
            <a:r>
              <a:rPr sz="1300" b="1">
                <a:solidFill>
                  <a:srgbClr val="101828"/>
                </a:solidFill>
                <a:latin typeface="Calibri"/>
              </a:rPr>
              <a:t>Team ID – </a:t>
            </a:r>
            <a:r>
              <a:rPr sz="1200">
                <a:solidFill>
                  <a:srgbClr val="5A6472"/>
                </a:solidFill>
                <a:latin typeface="Calibri"/>
              </a:rPr>
              <a:t>&lt;Team ID&gt;</a:t>
            </a:r>
          </a:p>
          <a:p>
            <a:pPr>
              <a:lnSpc>
                <a:spcPct val="120000"/>
              </a:lnSpc>
              <a:spcAft>
                <a:spcPts val="700"/>
              </a:spcAft>
            </a:pPr>
            <a:r>
              <a:rPr sz="1300" b="1">
                <a:solidFill>
                  <a:srgbClr val="101828"/>
                </a:solidFill>
                <a:latin typeface="Calibri"/>
              </a:rPr>
              <a:t>Team Name – </a:t>
            </a:r>
            <a:r>
              <a:rPr sz="1200">
                <a:solidFill>
                  <a:srgbClr val="5A6472"/>
                </a:solidFill>
                <a:latin typeface="Calibri"/>
              </a:rPr>
              <a:t>&lt;Team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KASAUTI</a:t>
            </a:r>
          </a:p>
        </p:txBody>
      </p:sp>
      <p:sp>
        <p:nvSpPr>
          <p:cNvPr id="15362"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950" b="0" u="sng" dirty="0" i="1">
                <a:solidFill>
                  <a:srgbClr val="5A6472"/>
                </a:solidFill>
                <a:latin typeface="Calibri" pitchFamily="34" charset="0"/>
                <a:cs typeface="Arial" pitchFamily="34" charset="0"/>
              </a:rPr>
              <a:t>Proposed Solution (Describe your Idea/Solution/Prototype)</a:t>
            </a:r>
            <a:endParaRPr lang="en-US" sz="32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buFont typeface="Arial" panose="020B0604020202020204" pitchFamily="34" charset="0"/>
              <a:buChar char="•"/>
            </a:pPr>
            <a:endParaRPr lang="en-US" sz="2000" u="sng" dirty="0">
              <a:solidFill>
                <a:schemeClr val="tx2"/>
              </a:solidFill>
              <a:latin typeface="Arial" pitchFamily="34" charset="0"/>
              <a:cs typeface="Arial" pitchFamily="34" charset="0"/>
            </a:endParaRP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Detailed explanation of the proposed solution</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 How it addresses the problem</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Innovation and uniqueness of the solution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dirty="0">
                <a:solidFill>
                  <a:schemeClr val="bg1"/>
                </a:solidFill>
              </a:rPr>
              <a:t>@SIH Idea submission- Template</a:t>
            </a: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Rounded Rectangle 15362"/>
          <p:cNvSpPr/>
          <p:nvPr/>
        </p:nvSpPr>
        <p:spPr>
          <a:xfrm>
            <a:off x="612648"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740664"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READ</a:t>
            </a:r>
          </a:p>
        </p:txBody>
      </p:sp>
      <p:sp>
        <p:nvSpPr>
          <p:cNvPr id="15365" name="TextBox 15364"/>
          <p:cNvSpPr txBox="1"/>
          <p:nvPr/>
        </p:nvSpPr>
        <p:spPr>
          <a:xfrm>
            <a:off x="740664"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250,839 works, 272,263
payments, 1,547 MP-terms</a:t>
            </a:r>
          </a:p>
        </p:txBody>
      </p:sp>
      <p:sp>
        <p:nvSpPr>
          <p:cNvPr id="15366" name="Rounded Rectangle 15365"/>
          <p:cNvSpPr/>
          <p:nvPr/>
        </p:nvSpPr>
        <p:spPr>
          <a:xfrm>
            <a:off x="2832811"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TextBox 15366"/>
          <p:cNvSpPr txBox="1"/>
          <p:nvPr/>
        </p:nvSpPr>
        <p:spPr>
          <a:xfrm>
            <a:off x="2960827"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COMPARE</a:t>
            </a:r>
          </a:p>
        </p:txBody>
      </p:sp>
      <p:sp>
        <p:nvSpPr>
          <p:cNvPr id="15368" name="TextBox 15367"/>
          <p:cNvSpPr txBox="1"/>
          <p:nvPr/>
        </p:nvSpPr>
        <p:spPr>
          <a:xfrm>
            <a:off x="2960827"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Each work against its own
district-and-sector peers</a:t>
            </a:r>
          </a:p>
        </p:txBody>
      </p:sp>
      <p:sp>
        <p:nvSpPr>
          <p:cNvPr id="15369" name="Rounded Rectangle 15368"/>
          <p:cNvSpPr/>
          <p:nvPr/>
        </p:nvSpPr>
        <p:spPr>
          <a:xfrm>
            <a:off x="5052974"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TextBox 15369"/>
          <p:cNvSpPr txBox="1"/>
          <p:nvPr/>
        </p:nvSpPr>
        <p:spPr>
          <a:xfrm>
            <a:off x="5180990"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DETECT</a:t>
            </a:r>
          </a:p>
        </p:txBody>
      </p:sp>
      <p:sp>
        <p:nvSpPr>
          <p:cNvPr id="15371" name="TextBox 15370"/>
          <p:cNvSpPr txBox="1"/>
          <p:nvPr/>
        </p:nvSpPr>
        <p:spPr>
          <a:xfrm>
            <a:off x="5180990"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5 work signals, 4 cohort
detectors, 4 written rules</a:t>
            </a:r>
          </a:p>
        </p:txBody>
      </p:sp>
      <p:sp>
        <p:nvSpPr>
          <p:cNvPr id="15372" name="Rounded Rectangle 15371"/>
          <p:cNvSpPr/>
          <p:nvPr/>
        </p:nvSpPr>
        <p:spPr>
          <a:xfrm>
            <a:off x="7273137"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3" name="TextBox 15372"/>
          <p:cNvSpPr txBox="1"/>
          <p:nvPr/>
        </p:nvSpPr>
        <p:spPr>
          <a:xfrm>
            <a:off x="7401153"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SCORE</a:t>
            </a:r>
          </a:p>
        </p:txBody>
      </p:sp>
      <p:sp>
        <p:nvSpPr>
          <p:cNvPr id="15374" name="TextBox 15373"/>
          <p:cNvSpPr txBox="1"/>
          <p:nvPr/>
        </p:nvSpPr>
        <p:spPr>
          <a:xfrm>
            <a:off x="7401153"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One 0-100 number, with
the records behind it</a:t>
            </a:r>
          </a:p>
        </p:txBody>
      </p:sp>
      <p:sp>
        <p:nvSpPr>
          <p:cNvPr id="15375" name="Rounded Rectangle 15374"/>
          <p:cNvSpPr/>
          <p:nvPr/>
        </p:nvSpPr>
        <p:spPr>
          <a:xfrm>
            <a:off x="9493300" y="1783080"/>
            <a:ext cx="2092147" cy="11338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6" name="TextBox 15375"/>
          <p:cNvSpPr txBox="1"/>
          <p:nvPr/>
        </p:nvSpPr>
        <p:spPr>
          <a:xfrm>
            <a:off x="9621316" y="1892807"/>
            <a:ext cx="1836115" cy="256032"/>
          </a:xfrm>
          <a:prstGeom prst="rect">
            <a:avLst/>
          </a:prstGeom>
          <a:noFill/>
        </p:spPr>
        <p:txBody>
          <a:bodyPr wrap="square" lIns="0" rIns="0" tIns="0" bIns="0">
            <a:spAutoFit/>
          </a:bodyPr>
          <a:lstStyle/>
          <a:p>
            <a:pPr>
              <a:lnSpc>
                <a:spcPct val="122000"/>
              </a:lnSpc>
            </a:pPr>
            <a:r>
              <a:rPr sz="1300" b="1">
                <a:solidFill>
                  <a:srgbClr val="00548F"/>
                </a:solidFill>
                <a:latin typeface="Calibri"/>
              </a:rPr>
              <a:t>ACT</a:t>
            </a:r>
          </a:p>
        </p:txBody>
      </p:sp>
      <p:sp>
        <p:nvSpPr>
          <p:cNvPr id="15377" name="TextBox 15376"/>
          <p:cNvSpPr txBox="1"/>
          <p:nvPr/>
        </p:nvSpPr>
        <p:spPr>
          <a:xfrm>
            <a:off x="9621316" y="2203704"/>
            <a:ext cx="1836115" cy="621792"/>
          </a:xfrm>
          <a:prstGeom prst="rect">
            <a:avLst/>
          </a:prstGeom>
          <a:noFill/>
        </p:spPr>
        <p:txBody>
          <a:bodyPr wrap="square" lIns="0" rIns="0" tIns="0" bIns="0">
            <a:spAutoFit/>
          </a:bodyPr>
          <a:lstStyle/>
          <a:p>
            <a:pPr>
              <a:lnSpc>
                <a:spcPct val="116000"/>
              </a:lnSpc>
            </a:pPr>
            <a:r>
              <a:rPr sz="1000" b="0">
                <a:solidFill>
                  <a:srgbClr val="5A6472"/>
                </a:solidFill>
                <a:latin typeface="Calibri"/>
              </a:rPr>
              <a:t>A ranked queue, and a trail
of every decision on it</a:t>
            </a:r>
          </a:p>
        </p:txBody>
      </p:sp>
      <p:sp>
        <p:nvSpPr>
          <p:cNvPr id="15378" name="Rounded Rectangle 15377"/>
          <p:cNvSpPr/>
          <p:nvPr/>
        </p:nvSpPr>
        <p:spPr>
          <a:xfrm>
            <a:off x="612648"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9" name="Rounded Rectangle 15378"/>
          <p:cNvSpPr/>
          <p:nvPr/>
        </p:nvSpPr>
        <p:spPr>
          <a:xfrm>
            <a:off x="612648" y="3136391"/>
            <a:ext cx="41148" cy="30632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0" name="TextBox 15379"/>
          <p:cNvSpPr txBox="1"/>
          <p:nvPr/>
        </p:nvSpPr>
        <p:spPr>
          <a:xfrm>
            <a:off x="813816"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Kasauti — the touchstone</a:t>
            </a:r>
          </a:p>
        </p:txBody>
      </p:sp>
      <p:sp>
        <p:nvSpPr>
          <p:cNvPr id="15381" name="TextBox 15380"/>
          <p:cNvSpPr txBox="1"/>
          <p:nvPr/>
        </p:nvSpPr>
        <p:spPr>
          <a:xfrm>
            <a:off x="813816" y="3571240"/>
            <a:ext cx="3182112" cy="2045207"/>
          </a:xfrm>
          <a:prstGeom prst="rect">
            <a:avLst/>
          </a:prstGeom>
          <a:noFill/>
        </p:spPr>
        <p:txBody>
          <a:bodyPr wrap="square" lIns="0" rIns="0" tIns="0" bIns="0">
            <a:spAutoFit/>
          </a:bodyPr>
          <a:lstStyle/>
          <a:p>
            <a:pPr>
              <a:lnSpc>
                <a:spcPct val="122000"/>
              </a:lnSpc>
            </a:pPr>
            <a:r>
              <a:rPr sz="1200" b="0">
                <a:solidFill>
                  <a:srgbClr val="5A6472"/>
                </a:solidFill>
                <a:latin typeface="Calibri"/>
              </a:rPr>
              <a:t>A jeweller rubs gold against a kasauti and reads the streak: the stone says which pieces are worth assaying, never which are false. This reads the published MPLADS record end to end and scores every work against comparable works in the same district and sector. 47,471 clear the review threshold, carrying Rs 4,602 Cr of sanction. Officials get them ranked, not a spreadsheet.</a:t>
            </a:r>
          </a:p>
        </p:txBody>
      </p:sp>
      <p:sp>
        <p:nvSpPr>
          <p:cNvPr id="15382" name="Rounded Rectangle 15381"/>
          <p:cNvSpPr/>
          <p:nvPr/>
        </p:nvSpPr>
        <p:spPr>
          <a:xfrm>
            <a:off x="4325112"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Rounded Rectangle 15382"/>
          <p:cNvSpPr/>
          <p:nvPr/>
        </p:nvSpPr>
        <p:spPr>
          <a:xfrm>
            <a:off x="4325112" y="3136391"/>
            <a:ext cx="41148" cy="30632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4" name="TextBox 15383"/>
          <p:cNvSpPr txBox="1"/>
          <p:nvPr/>
        </p:nvSpPr>
        <p:spPr>
          <a:xfrm>
            <a:off x="4526280"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Innovation and uniqueness</a:t>
            </a:r>
          </a:p>
        </p:txBody>
      </p:sp>
      <p:sp>
        <p:nvSpPr>
          <p:cNvPr id="15385" name="TextBox 15384"/>
          <p:cNvSpPr txBox="1"/>
          <p:nvPr/>
        </p:nvSpPr>
        <p:spPr>
          <a:xfrm>
            <a:off x="4526280" y="3571240"/>
            <a:ext cx="3182112" cy="1673351"/>
          </a:xfrm>
          <a:prstGeom prst="rect">
            <a:avLst/>
          </a:prstGeom>
          <a:noFill/>
        </p:spPr>
        <p:txBody>
          <a:bodyPr wrap="square" lIns="0" rIns="0" tIns="0" bIns="0">
            <a:spAutoFit/>
          </a:bodyPr>
          <a:lstStyle/>
          <a:p>
            <a:pPr>
              <a:lnSpc>
                <a:spcPct val="122000"/>
              </a:lnSpc>
            </a:pPr>
            <a:r>
              <a:rPr sz="1200" b="0">
                <a:solidFill>
                  <a:srgbClr val="5A6472"/>
                </a:solidFill>
                <a:latin typeface="Calibri"/>
              </a:rPr>
              <a:t>Every flag names the record that produced it. Cohort patterns are kept at cohort grain instead of being blamed on one work. Reviewer decisions are pinned to a work identity that survives the nightly reload, so a verdict is never reattached to a different work, and every decision ever recorded on one survives the next.</a:t>
            </a:r>
          </a:p>
        </p:txBody>
      </p:sp>
      <p:sp>
        <p:nvSpPr>
          <p:cNvPr id="15386" name="Rounded Rectangle 15385"/>
          <p:cNvSpPr/>
          <p:nvPr/>
        </p:nvSpPr>
        <p:spPr>
          <a:xfrm>
            <a:off x="8037576" y="3136391"/>
            <a:ext cx="3547872" cy="30632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Rounded Rectangle 15386"/>
          <p:cNvSpPr/>
          <p:nvPr/>
        </p:nvSpPr>
        <p:spPr>
          <a:xfrm>
            <a:off x="8037576" y="3136391"/>
            <a:ext cx="41148" cy="306324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8" name="TextBox 15387"/>
          <p:cNvSpPr txBox="1"/>
          <p:nvPr/>
        </p:nvSpPr>
        <p:spPr>
          <a:xfrm>
            <a:off x="8238744" y="3282696"/>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What it does not claim</a:t>
            </a:r>
          </a:p>
        </p:txBody>
      </p:sp>
      <p:sp>
        <p:nvSpPr>
          <p:cNvPr id="15389" name="TextBox 15388"/>
          <p:cNvSpPr txBox="1"/>
          <p:nvPr/>
        </p:nvSpPr>
        <p:spPr>
          <a:xfrm>
            <a:off x="8238744" y="3571240"/>
            <a:ext cx="3182112" cy="1859280"/>
          </a:xfrm>
          <a:prstGeom prst="rect">
            <a:avLst/>
          </a:prstGeom>
          <a:noFill/>
        </p:spPr>
        <p:txBody>
          <a:bodyPr wrap="square" lIns="0" rIns="0" tIns="0" bIns="0">
            <a:spAutoFit/>
          </a:bodyPr>
          <a:lstStyle/>
          <a:p>
            <a:pPr>
              <a:lnSpc>
                <a:spcPct val="122000"/>
              </a:lnSpc>
            </a:pPr>
            <a:r>
              <a:rPr sz="1200" b="0">
                <a:solidFill>
                  <a:srgbClr val="5A6472"/>
                </a:solidFill>
                <a:latin typeface="Calibri"/>
              </a:rPr>
              <a:t>A score is not an allegation - it means a work does not resemble its peers. No field is invented: progress %, beneficiary counts and geo-tags are not published, so they are not shown. The rule book states what cannot be checked at all. A language model only labels what a work is, so it meets the right peers; it never scores or flags anything.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Technologies to be used (e.g. programming languages, frameworks, hardware)</a:t>
            </a:r>
          </a:p>
          <a:p>
            <a:pPr marL="342900" indent="-342900" algn="just">
              <a:buFont typeface="Arial" panose="020B0604020202020204" pitchFamily="34" charset="0"/>
              <a:buChar char="•"/>
            </a:pPr>
            <a:r>
              <a:rPr lang="en-US" sz="950" dirty="0" i="1" b="0">
                <a:solidFill>
                  <a:srgbClr val="5A6472"/>
                </a:solidFill>
                <a:latin typeface="Calibri" pitchFamily="34" charset="0"/>
                <a:cs typeface="Arial" pitchFamily="34" charset="0"/>
              </a:rPr>
              <a:t>Methodology and process for implementation (Flow Charts/Images/ working prototype)</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758952"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AI / ML</a:t>
            </a:r>
          </a:p>
        </p:txBody>
      </p:sp>
      <p:sp>
        <p:nvSpPr>
          <p:cNvPr id="17414" name="TextBox 17413"/>
          <p:cNvSpPr txBox="1"/>
          <p:nvPr/>
        </p:nvSpPr>
        <p:spPr>
          <a:xfrm>
            <a:off x="758952"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MiniLM sentence transformer
Isolation Forest
Benford + HHI statistics
Gemini sector labelling</a:t>
            </a:r>
          </a:p>
        </p:txBody>
      </p:sp>
      <p:sp>
        <p:nvSpPr>
          <p:cNvPr id="17415" name="Rounded Rectangle 17414"/>
          <p:cNvSpPr/>
          <p:nvPr/>
        </p:nvSpPr>
        <p:spPr>
          <a:xfrm>
            <a:off x="3396996"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3396996"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3543300"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BACKEND</a:t>
            </a:r>
          </a:p>
        </p:txBody>
      </p:sp>
      <p:sp>
        <p:nvSpPr>
          <p:cNvPr id="17418" name="TextBox 17417"/>
          <p:cNvSpPr txBox="1"/>
          <p:nvPr/>
        </p:nvSpPr>
        <p:spPr>
          <a:xfrm>
            <a:off x="3543300"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FastAPI, read-mostly
Postgres on Neon
Pooled, retries dead links
One authenticated write</a:t>
            </a:r>
          </a:p>
        </p:txBody>
      </p:sp>
      <p:sp>
        <p:nvSpPr>
          <p:cNvPr id="17419" name="Rounded Rectangle 17418"/>
          <p:cNvSpPr/>
          <p:nvPr/>
        </p:nvSpPr>
        <p:spPr>
          <a:xfrm>
            <a:off x="6181344"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6181344"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6327648"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FRONTEND</a:t>
            </a:r>
          </a:p>
        </p:txBody>
      </p:sp>
      <p:sp>
        <p:nvSpPr>
          <p:cNvPr id="17422" name="TextBox 17421"/>
          <p:cNvSpPr txBox="1"/>
          <p:nvPr/>
        </p:nvSpPr>
        <p:spPr>
          <a:xfrm>
            <a:off x="6327648"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Next.js App Router
TypeScript, Tailwind
Server-rendered
Leaflet map</a:t>
            </a:r>
          </a:p>
        </p:txBody>
      </p:sp>
      <p:sp>
        <p:nvSpPr>
          <p:cNvPr id="17423" name="Rounded Rectangle 17422"/>
          <p:cNvSpPr/>
          <p:nvPr/>
        </p:nvSpPr>
        <p:spPr>
          <a:xfrm>
            <a:off x="8965692" y="1783080"/>
            <a:ext cx="2619756" cy="137160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965692" y="1783080"/>
            <a:ext cx="2619756" cy="32004"/>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9111996" y="1920240"/>
            <a:ext cx="2327148" cy="256032"/>
          </a:xfrm>
          <a:prstGeom prst="rect">
            <a:avLst/>
          </a:prstGeom>
          <a:noFill/>
        </p:spPr>
        <p:txBody>
          <a:bodyPr wrap="square" lIns="0" rIns="0" tIns="0" bIns="0">
            <a:spAutoFit/>
          </a:bodyPr>
          <a:lstStyle/>
          <a:p>
            <a:pPr>
              <a:lnSpc>
                <a:spcPct val="122000"/>
              </a:lnSpc>
            </a:pPr>
            <a:r>
              <a:rPr sz="1200" b="1">
                <a:solidFill>
                  <a:srgbClr val="00548F"/>
                </a:solidFill>
                <a:latin typeface="Calibri"/>
              </a:rPr>
              <a:t>PLATFORM</a:t>
            </a:r>
          </a:p>
        </p:txBody>
      </p:sp>
      <p:sp>
        <p:nvSpPr>
          <p:cNvPr id="17426" name="TextBox 17425"/>
          <p:cNvSpPr txBox="1"/>
          <p:nvPr/>
        </p:nvSpPr>
        <p:spPr>
          <a:xfrm>
            <a:off x="9111996" y="2240280"/>
            <a:ext cx="2327148" cy="914400"/>
          </a:xfrm>
          <a:prstGeom prst="rect">
            <a:avLst/>
          </a:prstGeom>
          <a:noFill/>
        </p:spPr>
        <p:txBody>
          <a:bodyPr wrap="square" lIns="0" rIns="0" tIns="0" bIns="0">
            <a:spAutoFit/>
          </a:bodyPr>
          <a:lstStyle/>
          <a:p>
            <a:pPr>
              <a:lnSpc>
                <a:spcPct val="126000"/>
              </a:lnSpc>
            </a:pPr>
            <a:r>
              <a:rPr sz="1050" b="0">
                <a:solidFill>
                  <a:srgbClr val="5A6472"/>
                </a:solidFill>
                <a:latin typeface="Calibri"/>
              </a:rPr>
              <a:t>Vercel, two projects
GitHub Actions nightly
127 automated tests
Live since day one</a:t>
            </a:r>
          </a:p>
        </p:txBody>
      </p:sp>
      <p:sp>
        <p:nvSpPr>
          <p:cNvPr id="17427" name="TextBox 17426"/>
          <p:cNvSpPr txBox="1"/>
          <p:nvPr/>
        </p:nvSpPr>
        <p:spPr>
          <a:xfrm>
            <a:off x="612648" y="3337560"/>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The risk score: five weighted signals about the work itself</a:t>
            </a:r>
          </a:p>
        </p:txBody>
      </p:sp>
      <p:sp>
        <p:nvSpPr>
          <p:cNvPr id="17428" name="Rounded Rectangle 17427"/>
          <p:cNvSpPr/>
          <p:nvPr/>
        </p:nvSpPr>
        <p:spPr>
          <a:xfrm>
            <a:off x="612648"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40664"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0" name="TextBox 17429"/>
          <p:cNvSpPr txBox="1"/>
          <p:nvPr/>
        </p:nvSpPr>
        <p:spPr>
          <a:xfrm>
            <a:off x="740664"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COST</a:t>
            </a:r>
          </a:p>
        </p:txBody>
      </p:sp>
      <p:sp>
        <p:nvSpPr>
          <p:cNvPr id="17431" name="Rounded Rectangle 17430"/>
          <p:cNvSpPr/>
          <p:nvPr/>
        </p:nvSpPr>
        <p:spPr>
          <a:xfrm>
            <a:off x="2832811"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2960827"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a:t>
            </a:r>
          </a:p>
        </p:txBody>
      </p:sp>
      <p:sp>
        <p:nvSpPr>
          <p:cNvPr id="17433" name="TextBox 17432"/>
          <p:cNvSpPr txBox="1"/>
          <p:nvPr/>
        </p:nvSpPr>
        <p:spPr>
          <a:xfrm>
            <a:off x="2960827"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DELAY</a:t>
            </a:r>
          </a:p>
        </p:txBody>
      </p:sp>
      <p:sp>
        <p:nvSpPr>
          <p:cNvPr id="17434" name="Rounded Rectangle 17433"/>
          <p:cNvSpPr/>
          <p:nvPr/>
        </p:nvSpPr>
        <p:spPr>
          <a:xfrm>
            <a:off x="5052974"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5180990"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20%</a:t>
            </a:r>
          </a:p>
        </p:txBody>
      </p:sp>
      <p:sp>
        <p:nvSpPr>
          <p:cNvPr id="17436" name="TextBox 17435"/>
          <p:cNvSpPr txBox="1"/>
          <p:nvPr/>
        </p:nvSpPr>
        <p:spPr>
          <a:xfrm>
            <a:off x="5180990"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DUPLICATE</a:t>
            </a:r>
          </a:p>
        </p:txBody>
      </p:sp>
      <p:sp>
        <p:nvSpPr>
          <p:cNvPr id="17437" name="Rounded Rectangle 17436"/>
          <p:cNvSpPr/>
          <p:nvPr/>
        </p:nvSpPr>
        <p:spPr>
          <a:xfrm>
            <a:off x="7273137"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401153"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39" name="TextBox 17438"/>
          <p:cNvSpPr txBox="1"/>
          <p:nvPr/>
        </p:nvSpPr>
        <p:spPr>
          <a:xfrm>
            <a:off x="7401153"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AGENCY</a:t>
            </a:r>
          </a:p>
        </p:txBody>
      </p:sp>
      <p:sp>
        <p:nvSpPr>
          <p:cNvPr id="17440" name="Rounded Rectangle 17439"/>
          <p:cNvSpPr/>
          <p:nvPr/>
        </p:nvSpPr>
        <p:spPr>
          <a:xfrm>
            <a:off x="9493300" y="3648456"/>
            <a:ext cx="2092147"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9621316" y="3730752"/>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15%</a:t>
            </a:r>
          </a:p>
        </p:txBody>
      </p:sp>
      <p:sp>
        <p:nvSpPr>
          <p:cNvPr id="17442" name="TextBox 17441"/>
          <p:cNvSpPr txBox="1"/>
          <p:nvPr/>
        </p:nvSpPr>
        <p:spPr>
          <a:xfrm>
            <a:off x="9621316" y="4041648"/>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COMPLIANCE</a:t>
            </a:r>
          </a:p>
        </p:txBody>
      </p:sp>
      <p:sp>
        <p:nvSpPr>
          <p:cNvPr id="17443" name="TextBox 17442"/>
          <p:cNvSpPr txBox="1"/>
          <p:nvPr/>
        </p:nvSpPr>
        <p:spPr>
          <a:xfrm>
            <a:off x="612648" y="4544568"/>
            <a:ext cx="10972800" cy="201168"/>
          </a:xfrm>
          <a:prstGeom prst="rect">
            <a:avLst/>
          </a:prstGeom>
          <a:noFill/>
        </p:spPr>
        <p:txBody>
          <a:bodyPr wrap="square" lIns="0" rIns="0" tIns="0" bIns="0">
            <a:spAutoFit/>
          </a:bodyPr>
          <a:lstStyle/>
          <a:p>
            <a:pPr>
              <a:lnSpc>
                <a:spcPct val="122000"/>
              </a:lnSpc>
            </a:pPr>
            <a:r>
              <a:rPr sz="1200" b="1">
                <a:solidFill>
                  <a:srgbClr val="101828"/>
                </a:solidFill>
                <a:latin typeface="Calibri"/>
              </a:rPr>
              <a:t>Four cohort detectors: patterns that belong to an agency or an MP, never folded into a work's score</a:t>
            </a:r>
          </a:p>
        </p:txBody>
      </p:sp>
      <p:sp>
        <p:nvSpPr>
          <p:cNvPr id="17444" name="Rounded Rectangle 17443"/>
          <p:cNvSpPr/>
          <p:nvPr/>
        </p:nvSpPr>
        <p:spPr>
          <a:xfrm>
            <a:off x="612648"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740664"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311 findings</a:t>
            </a:r>
          </a:p>
        </p:txBody>
      </p:sp>
      <p:sp>
        <p:nvSpPr>
          <p:cNvPr id="17446" name="TextBox 17445"/>
          <p:cNvSpPr txBox="1"/>
          <p:nvPr/>
        </p:nvSpPr>
        <p:spPr>
          <a:xfrm>
            <a:off x="740664"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D-01 Year-end burst</a:t>
            </a:r>
          </a:p>
        </p:txBody>
      </p:sp>
      <p:sp>
        <p:nvSpPr>
          <p:cNvPr id="17447" name="Rounded Rectangle 17446"/>
          <p:cNvSpPr/>
          <p:nvPr/>
        </p:nvSpPr>
        <p:spPr>
          <a:xfrm>
            <a:off x="3387852"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515868"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137 findings</a:t>
            </a:r>
          </a:p>
        </p:txBody>
      </p:sp>
      <p:sp>
        <p:nvSpPr>
          <p:cNvPr id="17449" name="TextBox 17448"/>
          <p:cNvSpPr txBox="1"/>
          <p:nvPr/>
        </p:nvSpPr>
        <p:spPr>
          <a:xfrm>
            <a:off x="3515868"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D-02 First-digit</a:t>
            </a:r>
          </a:p>
        </p:txBody>
      </p:sp>
      <p:sp>
        <p:nvSpPr>
          <p:cNvPr id="17450" name="Rounded Rectangle 17449"/>
          <p:cNvSpPr/>
          <p:nvPr/>
        </p:nvSpPr>
        <p:spPr>
          <a:xfrm>
            <a:off x="6163056"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291072"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255 findings</a:t>
            </a:r>
          </a:p>
        </p:txBody>
      </p:sp>
      <p:sp>
        <p:nvSpPr>
          <p:cNvPr id="17452" name="TextBox 17451"/>
          <p:cNvSpPr txBox="1"/>
          <p:nvPr/>
        </p:nvSpPr>
        <p:spPr>
          <a:xfrm>
            <a:off x="6291072"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D-03 Idle allocation</a:t>
            </a:r>
          </a:p>
        </p:txBody>
      </p:sp>
      <p:sp>
        <p:nvSpPr>
          <p:cNvPr id="17453" name="Rounded Rectangle 17452"/>
          <p:cNvSpPr/>
          <p:nvPr/>
        </p:nvSpPr>
        <p:spPr>
          <a:xfrm>
            <a:off x="8938260" y="4855464"/>
            <a:ext cx="2647188" cy="676656"/>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9066276" y="4937759"/>
            <a:ext cx="2391156" cy="274320"/>
          </a:xfrm>
          <a:prstGeom prst="rect">
            <a:avLst/>
          </a:prstGeom>
          <a:noFill/>
        </p:spPr>
        <p:txBody>
          <a:bodyPr wrap="square" lIns="0" rIns="0" tIns="0" bIns="0">
            <a:spAutoFit/>
          </a:bodyPr>
          <a:lstStyle/>
          <a:p>
            <a:pPr>
              <a:lnSpc>
                <a:spcPct val="122000"/>
              </a:lnSpc>
            </a:pPr>
            <a:r>
              <a:rPr sz="1500" b="1">
                <a:solidFill>
                  <a:srgbClr val="16704A"/>
                </a:solidFill>
                <a:latin typeface="Consolas"/>
              </a:rPr>
              <a:t>209 findings</a:t>
            </a:r>
          </a:p>
        </p:txBody>
      </p:sp>
      <p:sp>
        <p:nvSpPr>
          <p:cNvPr id="17455" name="TextBox 17454"/>
          <p:cNvSpPr txBox="1"/>
          <p:nvPr/>
        </p:nvSpPr>
        <p:spPr>
          <a:xfrm>
            <a:off x="9066276" y="5248655"/>
            <a:ext cx="2391156"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D-04 Uniform amount</a:t>
            </a:r>
          </a:p>
        </p:txBody>
      </p:sp>
      <p:sp>
        <p:nvSpPr>
          <p:cNvPr id="17456" name="Rounded Rectangle 17455"/>
          <p:cNvSpPr/>
          <p:nvPr/>
        </p:nvSpPr>
        <p:spPr>
          <a:xfrm>
            <a:off x="612648" y="5696712"/>
            <a:ext cx="10972800" cy="56692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58952" y="5806440"/>
            <a:ext cx="10680192" cy="365760"/>
          </a:xfrm>
          <a:prstGeom prst="rect">
            <a:avLst/>
          </a:prstGeom>
          <a:noFill/>
        </p:spPr>
        <p:txBody>
          <a:bodyPr wrap="square" lIns="0" rIns="0" tIns="0" bIns="0">
            <a:spAutoFit/>
          </a:bodyPr>
          <a:lstStyle/>
          <a:p>
            <a:pPr>
              <a:lnSpc>
                <a:spcPct val="128000"/>
              </a:lnSpc>
            </a:pPr>
            <a:r>
              <a:rPr sz="1000" b="0">
                <a:solidFill>
                  <a:srgbClr val="5A6472"/>
                </a:solidFill>
                <a:latin typeface="Calibri"/>
              </a:rPr>
              <a:t>Four compliance rules, each published with the exact condition it tests — including the one that cannot fire, because the source publishes a single figure per completed work that serves as both sanction and expenditure.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Strategies</a:t>
            </a:r>
            <a:r>
              <a:rPr kumimoji="0" lang="en-US" sz="950" b="0" i="1" u="none" strike="noStrike" kern="1200" cap="none" spc="0" normalizeH="0" noProof="0" dirty="0">
                <a:ln>
                  <a:noFill/>
                </a:ln>
                <a:solidFill>
                  <a:srgbClr val="5A6472"/>
                </a:solidFill>
                <a:effectLst/>
                <a:uLnTx/>
                <a:uFillTx/>
                <a:latin typeface="Calibri"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10972800" cy="640080"/>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77240" y="1938528"/>
            <a:ext cx="10643616" cy="347472"/>
          </a:xfrm>
          <a:prstGeom prst="rect">
            <a:avLst/>
          </a:prstGeom>
          <a:noFill/>
        </p:spPr>
        <p:txBody>
          <a:bodyPr wrap="square" lIns="0" rIns="0" tIns="0" bIns="0">
            <a:spAutoFit/>
          </a:bodyPr>
          <a:lstStyle/>
          <a:p>
            <a:pPr>
              <a:lnSpc>
                <a:spcPct val="122000"/>
              </a:lnSpc>
            </a:pPr>
            <a:r>
              <a:rPr sz="1250" b="1">
                <a:solidFill>
                  <a:srgbClr val="00548F"/>
                </a:solidFill>
                <a:latin typeface="Calibri"/>
              </a:rPr>
              <a:t>Not a proposal - already built, deployed and refreshing nightly: 250,839 works scored, all 36 states reconciled against the official MoSPI dashboard to within 3.6%, live at mplads-risk-monitor-web.vercel.app</a:t>
            </a:r>
          </a:p>
        </p:txBody>
      </p:sp>
      <p:sp>
        <p:nvSpPr>
          <p:cNvPr id="17413" name="Rounded Rectangle 17412"/>
          <p:cNvSpPr/>
          <p:nvPr/>
        </p:nvSpPr>
        <p:spPr>
          <a:xfrm>
            <a:off x="612648"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612648" y="2642615"/>
            <a:ext cx="41148" cy="356616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813816"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Feasibility</a:t>
            </a:r>
          </a:p>
        </p:txBody>
      </p:sp>
      <p:sp>
        <p:nvSpPr>
          <p:cNvPr id="17416" name="TextBox 17415"/>
          <p:cNvSpPr txBox="1"/>
          <p:nvPr/>
        </p:nvSpPr>
        <p:spPr>
          <a:xfrm>
            <a:off x="813816"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The data is already public and machine-readable: four CSVs, refreshed nightly by a scheduled job that loads in 2 minutes and scores in about 20. No ministry integration, no new reporting burden on any officer, no hardware. 127 automated tests run against the pipeline and the API.</a:t>
            </a:r>
          </a:p>
        </p:txBody>
      </p:sp>
      <p:sp>
        <p:nvSpPr>
          <p:cNvPr id="17417" name="Rounded Rectangle 17416"/>
          <p:cNvSpPr/>
          <p:nvPr/>
        </p:nvSpPr>
        <p:spPr>
          <a:xfrm>
            <a:off x="4325112"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325112" y="2642615"/>
            <a:ext cx="41148" cy="3566160"/>
          </a:xfrm>
          <a:prstGeom prst="roundRect">
            <a:avLst>
              <a:gd name="adj" fmla="val 6000"/>
            </a:avLst>
          </a:prstGeom>
          <a:solidFill>
            <a:srgbClr val="9660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26280"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Challenges and risks</a:t>
            </a:r>
          </a:p>
        </p:txBody>
      </p:sp>
      <p:sp>
        <p:nvSpPr>
          <p:cNvPr id="17420" name="TextBox 17419"/>
          <p:cNvSpPr txBox="1"/>
          <p:nvPr/>
        </p:nvSpPr>
        <p:spPr>
          <a:xfrm>
            <a:off x="4526280" y="3077464"/>
            <a:ext cx="3182112" cy="1487424"/>
          </a:xfrm>
          <a:prstGeom prst="rect">
            <a:avLst/>
          </a:prstGeom>
          <a:noFill/>
        </p:spPr>
        <p:txBody>
          <a:bodyPr wrap="square" lIns="0" rIns="0" tIns="0" bIns="0">
            <a:spAutoFit/>
          </a:bodyPr>
          <a:lstStyle/>
          <a:p>
            <a:pPr>
              <a:lnSpc>
                <a:spcPct val="122000"/>
              </a:lnSpc>
            </a:pPr>
            <a:r>
              <a:rPr sz="1200" b="0">
                <a:solidFill>
                  <a:srgbClr val="5A6472"/>
                </a:solidFill>
                <a:latin typeface="Calibri"/>
              </a:rPr>
              <a:t>Work IDs restart per agency, so 271 works had inherited a stranger's start date. Cost deviation had no ceiling and overflowed its column, losing the very outliers that matter. Dead pooled connections turned one expiry into a rolling outage. All three were found and fixed.</a:t>
            </a:r>
          </a:p>
        </p:txBody>
      </p:sp>
      <p:sp>
        <p:nvSpPr>
          <p:cNvPr id="17421" name="Rounded Rectangle 17420"/>
          <p:cNvSpPr/>
          <p:nvPr/>
        </p:nvSpPr>
        <p:spPr>
          <a:xfrm>
            <a:off x="8037576" y="2642615"/>
            <a:ext cx="3547872" cy="356616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8037576" y="2642615"/>
            <a:ext cx="41148" cy="356616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8238744" y="2788920"/>
            <a:ext cx="3182112"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How we overcome them</a:t>
            </a:r>
          </a:p>
        </p:txBody>
      </p:sp>
      <p:sp>
        <p:nvSpPr>
          <p:cNvPr id="17424" name="TextBox 17423"/>
          <p:cNvSpPr txBox="1"/>
          <p:nvPr/>
        </p:nvSpPr>
        <p:spPr>
          <a:xfrm>
            <a:off x="8238744" y="3077464"/>
            <a:ext cx="3182112" cy="1301496"/>
          </a:xfrm>
          <a:prstGeom prst="rect">
            <a:avLst/>
          </a:prstGeom>
          <a:noFill/>
        </p:spPr>
        <p:txBody>
          <a:bodyPr wrap="square" lIns="0" rIns="0" tIns="0" bIns="0">
            <a:spAutoFit/>
          </a:bodyPr>
          <a:lstStyle/>
          <a:p>
            <a:pPr>
              <a:lnSpc>
                <a:spcPct val="122000"/>
              </a:lnSpc>
            </a:pPr>
            <a:r>
              <a:rPr sz="1200" b="0">
                <a:solidFill>
                  <a:srgbClr val="5A6472"/>
                </a:solidFill>
                <a:latin typeface="Calibri"/>
              </a:rPr>
              <a:t>A work's identity is (Work ID, term, agency), unique across both extracts. Every threshold is calibrated on the measured distribution, not a textbook constant. A killed refresh now records its own death instead of being reported as the next run's success.</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950" b="0" i="1" u="none" strike="noStrike" kern="1200" cap="none" spc="0" normalizeH="0" baseline="0" noProof="0" dirty="0">
                <a:ln>
                  <a:noFill/>
                </a:ln>
                <a:solidFill>
                  <a:srgbClr val="5A6472"/>
                </a:solidFill>
                <a:effectLst/>
                <a:uLnTx/>
                <a:uFillTx/>
                <a:latin typeface="Calibri" pitchFamily="34" charset="0"/>
                <a:ea typeface="ＭＳ Ｐゴシック" pitchFamily="1" charset="-128"/>
                <a:cs typeface="Arial" pitchFamily="34" charset="0"/>
              </a:rPr>
              <a:t>Potential impact on the target audience</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dirty="0" i="1" b="0">
                <a:solidFill>
                  <a:srgbClr val="5A6472"/>
                </a:solidFill>
                <a:latin typeface="Calibri" pitchFamily="34" charset="0"/>
                <a:cs typeface="Arial" pitchFamily="34" charset="0"/>
              </a:rPr>
              <a:t>Benefits of the solution (social, economic, environmental, etc.)</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740664"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250,839</a:t>
            </a:r>
          </a:p>
        </p:txBody>
      </p:sp>
      <p:sp>
        <p:nvSpPr>
          <p:cNvPr id="17413" name="TextBox 17412"/>
          <p:cNvSpPr txBox="1"/>
          <p:nvPr/>
        </p:nvSpPr>
        <p:spPr>
          <a:xfrm>
            <a:off x="740664"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scored, both terms</a:t>
            </a:r>
          </a:p>
        </p:txBody>
      </p:sp>
      <p:sp>
        <p:nvSpPr>
          <p:cNvPr id="17414" name="Rounded Rectangle 17413"/>
          <p:cNvSpPr/>
          <p:nvPr/>
        </p:nvSpPr>
        <p:spPr>
          <a:xfrm>
            <a:off x="2832811"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2960827"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11,682 Cr</a:t>
            </a:r>
          </a:p>
        </p:txBody>
      </p:sp>
      <p:sp>
        <p:nvSpPr>
          <p:cNvPr id="17416" name="TextBox 17415"/>
          <p:cNvSpPr txBox="1"/>
          <p:nvPr/>
        </p:nvSpPr>
        <p:spPr>
          <a:xfrm>
            <a:off x="2960827"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allocated, 18th Lok Sabha</a:t>
            </a:r>
          </a:p>
        </p:txBody>
      </p:sp>
      <p:sp>
        <p:nvSpPr>
          <p:cNvPr id="17417" name="Rounded Rectangle 17416"/>
          <p:cNvSpPr/>
          <p:nvPr/>
        </p:nvSpPr>
        <p:spPr>
          <a:xfrm>
            <a:off x="5052974"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180990"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47,471</a:t>
            </a:r>
          </a:p>
        </p:txBody>
      </p:sp>
      <p:sp>
        <p:nvSpPr>
          <p:cNvPr id="17419" name="TextBox 17418"/>
          <p:cNvSpPr txBox="1"/>
          <p:nvPr/>
        </p:nvSpPr>
        <p:spPr>
          <a:xfrm>
            <a:off x="5180990"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works above the threshold</a:t>
            </a:r>
          </a:p>
        </p:txBody>
      </p:sp>
      <p:sp>
        <p:nvSpPr>
          <p:cNvPr id="17420" name="Rounded Rectangle 17419"/>
          <p:cNvSpPr/>
          <p:nvPr/>
        </p:nvSpPr>
        <p:spPr>
          <a:xfrm>
            <a:off x="7273137"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7401153"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Rs 4,602 Cr</a:t>
            </a:r>
          </a:p>
        </p:txBody>
      </p:sp>
      <p:sp>
        <p:nvSpPr>
          <p:cNvPr id="17422" name="TextBox 17421"/>
          <p:cNvSpPr txBox="1"/>
          <p:nvPr/>
        </p:nvSpPr>
        <p:spPr>
          <a:xfrm>
            <a:off x="7401153"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sanction awaiting review</a:t>
            </a:r>
          </a:p>
        </p:txBody>
      </p:sp>
      <p:sp>
        <p:nvSpPr>
          <p:cNvPr id="17423" name="Rounded Rectangle 17422"/>
          <p:cNvSpPr/>
          <p:nvPr/>
        </p:nvSpPr>
        <p:spPr>
          <a:xfrm>
            <a:off x="9493300" y="1783080"/>
            <a:ext cx="2092147" cy="74980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9621316" y="1865376"/>
            <a:ext cx="1836115" cy="274320"/>
          </a:xfrm>
          <a:prstGeom prst="rect">
            <a:avLst/>
          </a:prstGeom>
          <a:noFill/>
        </p:spPr>
        <p:txBody>
          <a:bodyPr wrap="square" lIns="0" rIns="0" tIns="0" bIns="0">
            <a:spAutoFit/>
          </a:bodyPr>
          <a:lstStyle/>
          <a:p>
            <a:pPr>
              <a:lnSpc>
                <a:spcPct val="122000"/>
              </a:lnSpc>
            </a:pPr>
            <a:r>
              <a:rPr sz="1500" b="1">
                <a:solidFill>
                  <a:srgbClr val="00548F"/>
                </a:solidFill>
                <a:latin typeface="Consolas"/>
              </a:rPr>
              <a:t>912</a:t>
            </a:r>
          </a:p>
        </p:txBody>
      </p:sp>
      <p:sp>
        <p:nvSpPr>
          <p:cNvPr id="17425" name="TextBox 17424"/>
          <p:cNvSpPr txBox="1"/>
          <p:nvPr/>
        </p:nvSpPr>
        <p:spPr>
          <a:xfrm>
            <a:off x="9621316" y="2176272"/>
            <a:ext cx="1836115" cy="237744"/>
          </a:xfrm>
          <a:prstGeom prst="rect">
            <a:avLst/>
          </a:prstGeom>
          <a:noFill/>
        </p:spPr>
        <p:txBody>
          <a:bodyPr wrap="square" lIns="0" rIns="0" tIns="0" bIns="0">
            <a:spAutoFit/>
          </a:bodyPr>
          <a:lstStyle/>
          <a:p>
            <a:pPr>
              <a:lnSpc>
                <a:spcPct val="122000"/>
              </a:lnSpc>
            </a:pPr>
            <a:r>
              <a:rPr sz="1000" b="0">
                <a:solidFill>
                  <a:srgbClr val="5A6472"/>
                </a:solidFill>
                <a:latin typeface="Calibri"/>
              </a:rPr>
              <a:t>cohort findings</a:t>
            </a:r>
          </a:p>
        </p:txBody>
      </p:sp>
      <p:sp>
        <p:nvSpPr>
          <p:cNvPr id="17426" name="Rounded Rectangle 17425"/>
          <p:cNvSpPr/>
          <p:nvPr/>
        </p:nvSpPr>
        <p:spPr>
          <a:xfrm>
            <a:off x="612648"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12648"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813816"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Member of Parliament</a:t>
            </a:r>
          </a:p>
        </p:txBody>
      </p:sp>
      <p:sp>
        <p:nvSpPr>
          <p:cNvPr id="17429" name="TextBox 17428"/>
          <p:cNvSpPr txBox="1"/>
          <p:nvPr/>
        </p:nvSpPr>
        <p:spPr>
          <a:xfrm>
            <a:off x="813816"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Their own page: what they recommended, what got built, how much allocation was never committed to any work, and which of it is flagged.</a:t>
            </a:r>
          </a:p>
        </p:txBody>
      </p:sp>
      <p:sp>
        <p:nvSpPr>
          <p:cNvPr id="17430" name="Rounded Rectangle 17429"/>
          <p:cNvSpPr/>
          <p:nvPr/>
        </p:nvSpPr>
        <p:spPr>
          <a:xfrm>
            <a:off x="3392424"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92424"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593592"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District authority</a:t>
            </a:r>
          </a:p>
        </p:txBody>
      </p:sp>
      <p:sp>
        <p:nvSpPr>
          <p:cNvPr id="17433" name="TextBox 17432"/>
          <p:cNvSpPr txBox="1"/>
          <p:nvPr/>
        </p:nvSpPr>
        <p:spPr>
          <a:xfrm>
            <a:off x="3593592"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district desk led by the implementing agencies it supervises, with vendor concentration and a ranked shortlist instead of a register.</a:t>
            </a:r>
          </a:p>
        </p:txBody>
      </p:sp>
      <p:sp>
        <p:nvSpPr>
          <p:cNvPr id="17434" name="Rounded Rectangle 17433"/>
          <p:cNvSpPr/>
          <p:nvPr/>
        </p:nvSpPr>
        <p:spPr>
          <a:xfrm>
            <a:off x="6172200"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172200"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373368"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State nodal officer</a:t>
            </a:r>
          </a:p>
        </p:txBody>
      </p:sp>
      <p:sp>
        <p:nvSpPr>
          <p:cNvPr id="17437" name="TextBox 17436"/>
          <p:cNvSpPr txBox="1"/>
          <p:nvPr/>
        </p:nvSpPr>
        <p:spPr>
          <a:xfrm>
            <a:off x="6373368"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A state desk ranking every district by the queue it has to clear, and all 36 states on money committed against money paid.</a:t>
            </a:r>
          </a:p>
        </p:txBody>
      </p:sp>
      <p:sp>
        <p:nvSpPr>
          <p:cNvPr id="17438" name="Rounded Rectangle 17437"/>
          <p:cNvSpPr/>
          <p:nvPr/>
        </p:nvSpPr>
        <p:spPr>
          <a:xfrm>
            <a:off x="8951976" y="2752344"/>
            <a:ext cx="2633472" cy="233172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Rounded Rectangle 17438"/>
          <p:cNvSpPr/>
          <p:nvPr/>
        </p:nvSpPr>
        <p:spPr>
          <a:xfrm>
            <a:off x="8951976" y="2752344"/>
            <a:ext cx="41148" cy="233172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9153144" y="2898648"/>
            <a:ext cx="2267712" cy="176783"/>
          </a:xfrm>
          <a:prstGeom prst="rect">
            <a:avLst/>
          </a:prstGeom>
          <a:noFill/>
        </p:spPr>
        <p:txBody>
          <a:bodyPr wrap="square" lIns="0" rIns="0" tIns="0" bIns="0">
            <a:spAutoFit/>
          </a:bodyPr>
          <a:lstStyle/>
          <a:p>
            <a:pPr>
              <a:lnSpc>
                <a:spcPct val="116000"/>
              </a:lnSpc>
            </a:pPr>
            <a:r>
              <a:rPr sz="1200" b="1">
                <a:solidFill>
                  <a:srgbClr val="101828"/>
                </a:solidFill>
                <a:latin typeface="Calibri"/>
              </a:rPr>
              <a:t>Ministry (MoSPI)</a:t>
            </a:r>
          </a:p>
        </p:txBody>
      </p:sp>
      <p:sp>
        <p:nvSpPr>
          <p:cNvPr id="17441" name="TextBox 17440"/>
          <p:cNvSpPr txBox="1"/>
          <p:nvPr/>
        </p:nvSpPr>
        <p:spPr>
          <a:xfrm>
            <a:off x="9153144" y="3157728"/>
            <a:ext cx="2267712" cy="813435"/>
          </a:xfrm>
          <a:prstGeom prst="rect">
            <a:avLst/>
          </a:prstGeom>
          <a:noFill/>
        </p:spPr>
        <p:txBody>
          <a:bodyPr wrap="square" lIns="0" rIns="0" tIns="0" bIns="0">
            <a:spAutoFit/>
          </a:bodyPr>
          <a:lstStyle/>
          <a:p>
            <a:pPr>
              <a:lnSpc>
                <a:spcPct val="122000"/>
              </a:lnSpc>
            </a:pPr>
            <a:r>
              <a:rPr sz="1050" b="0">
                <a:solidFill>
                  <a:srgbClr val="5A6472"/>
                </a:solidFill>
                <a:latin typeface="Calibri"/>
              </a:rPr>
              <a:t>National patterns, the compliance rule book and a provenance page reconciling every headline figure against the Ministry's own dashboard.</a:t>
            </a:r>
          </a:p>
        </p:txBody>
      </p:sp>
      <p:sp>
        <p:nvSpPr>
          <p:cNvPr id="17442" name="Rounded Rectangle 17441"/>
          <p:cNvSpPr/>
          <p:nvPr/>
        </p:nvSpPr>
        <p:spPr>
          <a:xfrm>
            <a:off x="612648" y="5303520"/>
            <a:ext cx="10972800" cy="932688"/>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777240" y="5440680"/>
            <a:ext cx="10643616" cy="694944"/>
          </a:xfrm>
          <a:prstGeom prst="rect">
            <a:avLst/>
          </a:prstGeom>
          <a:noFill/>
        </p:spPr>
        <p:txBody>
          <a:bodyPr wrap="square" lIns="0" rIns="0" tIns="0" bIns="0">
            <a:spAutoFit/>
          </a:bodyPr>
          <a:lstStyle/>
          <a:p>
            <a:pPr>
              <a:lnSpc>
                <a:spcPct val="132000"/>
              </a:lnSpc>
            </a:pPr>
            <a:r>
              <a:rPr sz="1150" b="0">
                <a:solidFill>
                  <a:srgbClr val="5A6472"/>
                </a:solidFill>
                <a:latin typeface="Calibri"/>
              </a:rPr>
              <a:t>Social — public money is checked against its own record, not against nobody.  Economic — verification effort goes where the deviation is, so a fixed audit budget covers more ground.  Governance — every flag is traceable to the rows that produced it, so a finding can be argued with rather than merely believed.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612648" y="1188720"/>
            <a:ext cx="10972800" cy="475488"/>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950" noProof="0" dirty="0" i="1" b="0">
                <a:solidFill>
                  <a:srgbClr val="5A6472"/>
                </a:solidFill>
                <a:latin typeface="Calibri" pitchFamily="34" charset="0"/>
                <a:cs typeface="Arial" pitchFamily="34" charset="0"/>
              </a:rPr>
              <a:t>Details / Links of the reference and research work</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&lt;Team Name&gt;</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Rounded Rectangle 17410"/>
          <p:cNvSpPr/>
          <p:nvPr/>
        </p:nvSpPr>
        <p:spPr>
          <a:xfrm>
            <a:off x="61264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783080"/>
            <a:ext cx="41148" cy="3520440"/>
          </a:xfrm>
          <a:prstGeom prst="roundRect">
            <a:avLst>
              <a:gd name="adj" fmla="val 6000"/>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81381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The designated dataset, and what it serves</a:t>
            </a:r>
          </a:p>
        </p:txBody>
      </p:sp>
      <p:sp>
        <p:nvSpPr>
          <p:cNvPr id="17414" name="TextBox 17413"/>
          <p:cNvSpPr txBox="1"/>
          <p:nvPr/>
        </p:nvSpPr>
        <p:spPr>
          <a:xfrm>
            <a:off x="813816" y="2217928"/>
            <a:ext cx="5029200" cy="2788920"/>
          </a:xfrm>
          <a:prstGeom prst="rect">
            <a:avLst/>
          </a:prstGeom>
          <a:noFill/>
        </p:spPr>
        <p:txBody>
          <a:bodyPr wrap="square" lIns="0" rIns="0" tIns="0" bIns="0">
            <a:spAutoFit/>
          </a:bodyPr>
          <a:lstStyle/>
          <a:p>
            <a:pPr>
              <a:lnSpc>
                <a:spcPct val="122000"/>
              </a:lnSpc>
            </a:pPr>
            <a:r>
              <a:rPr sz="1000" b="0">
                <a:solidFill>
                  <a:srgbClr val="5A6472"/>
                </a:solidFill>
                <a:latin typeface="Calibri"/>
              </a:rPr>
              <a:t>The problem statement names mplads.mospi.gov.in. Its public interface, enumerated from its own JavaScript and called directly: totals, states, districts and member names are open to anyone. Works are not. Completed works come only through a citizen rating form that needs an SMS one-time password on an Indian mobile, returns one member's works in one ward per call, and is rate limited. Recommended works, payments and vendors are not served at all; every other path answers 302 to the login page.
Empowered Indian republishes that record as machine-readable exports. Its own uploader reads the State Bank disbursement portal that MPLADS money is paid through, with a signed-in session cookie at one request every three seconds.
So this system loads those exports - 250,839 works, 272,263 payments, 1,547 MP-terms, 776 districts, 62,969 vendors - and reconciles against the official endpoints on every refresh: five figures within 3.6%, every gap negative because our snapshot trails a portal that gains works overnight. 4,789 rows rejected and recorded, not silently dropped.</a:t>
            </a:r>
          </a:p>
        </p:txBody>
      </p:sp>
      <p:sp>
        <p:nvSpPr>
          <p:cNvPr id="17415" name="Rounded Rectangle 17414"/>
          <p:cNvSpPr/>
          <p:nvPr/>
        </p:nvSpPr>
        <p:spPr>
          <a:xfrm>
            <a:off x="6190488" y="1783080"/>
            <a:ext cx="5394960" cy="3520440"/>
          </a:xfrm>
          <a:prstGeom prst="roundRect">
            <a:avLst>
              <a:gd name="adj" fmla="val 6000"/>
            </a:avLst>
          </a:prstGeom>
          <a:solidFill>
            <a:srgbClr val="F5F7FA"/>
          </a:solidFill>
          <a:ln w="9525">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6190488" y="1783080"/>
            <a:ext cx="41148" cy="3520440"/>
          </a:xfrm>
          <a:prstGeom prst="roundRect">
            <a:avLst>
              <a:gd name="adj" fmla="val 6000"/>
            </a:avLst>
          </a:prstGeom>
          <a:solidFill>
            <a:srgbClr val="167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6391656" y="1929384"/>
            <a:ext cx="5029200" cy="206247"/>
          </a:xfrm>
          <a:prstGeom prst="rect">
            <a:avLst/>
          </a:prstGeom>
          <a:noFill/>
        </p:spPr>
        <p:txBody>
          <a:bodyPr wrap="square" lIns="0" rIns="0" tIns="0" bIns="0">
            <a:spAutoFit/>
          </a:bodyPr>
          <a:lstStyle/>
          <a:p>
            <a:pPr>
              <a:lnSpc>
                <a:spcPct val="116000"/>
              </a:lnSpc>
            </a:pPr>
            <a:r>
              <a:rPr sz="1400" b="1">
                <a:solidFill>
                  <a:srgbClr val="101828"/>
                </a:solidFill>
                <a:latin typeface="Calibri"/>
              </a:rPr>
              <a:t>Methods</a:t>
            </a:r>
          </a:p>
        </p:txBody>
      </p:sp>
      <p:sp>
        <p:nvSpPr>
          <p:cNvPr id="17418" name="TextBox 17417"/>
          <p:cNvSpPr txBox="1"/>
          <p:nvPr/>
        </p:nvSpPr>
        <p:spPr>
          <a:xfrm>
            <a:off x="6391656" y="2217928"/>
            <a:ext cx="5029200" cy="1874773"/>
          </a:xfrm>
          <a:prstGeom prst="rect">
            <a:avLst/>
          </a:prstGeom>
          <a:noFill/>
        </p:spPr>
        <p:txBody>
          <a:bodyPr wrap="square" lIns="0" rIns="0" tIns="0" bIns="0">
            <a:spAutoFit/>
          </a:bodyPr>
          <a:lstStyle/>
          <a:p>
            <a:pPr>
              <a:lnSpc>
                <a:spcPct val="122000"/>
              </a:lnSpc>
            </a:pPr>
            <a:r>
              <a:rPr sz="1100" b="0">
                <a:solidFill>
                  <a:srgbClr val="5A6472"/>
                </a:solidFill>
                <a:latin typeface="Calibri"/>
              </a:rPr>
              <a:t>Liu, Ting and Zhou (2008), Isolation Forest — multivariate outliers over amount, delay and spend.
Reimers and Gurevych (2019), Sentence-BERT — all-MiniLM-L6-v2 embeddings, cosine 0.94 within a district and sector, for duplicate sanctions.
Newcomb-Benford first-digit law, with Nigrini's MAD — used peer-relative, because the population itself does not conform.
Herfindahl-Hirschman Index - vendor concentration per implementing agency.
MPLADS Guidelines, MoSPI - permissible works, sanction ceilings, entitlement per MP.</a:t>
            </a:r>
          </a:p>
        </p:txBody>
      </p:sp>
      <p:sp>
        <p:nvSpPr>
          <p:cNvPr id="17419" name="Rounded Rectangle 17418"/>
          <p:cNvSpPr/>
          <p:nvPr/>
        </p:nvSpPr>
        <p:spPr>
          <a:xfrm>
            <a:off x="612648" y="5522976"/>
            <a:ext cx="10972800" cy="658368"/>
          </a:xfrm>
          <a:prstGeom prst="roundRect">
            <a:avLst>
              <a:gd name="adj" fmla="val 6000"/>
            </a:avLst>
          </a:prstGeom>
          <a:solidFill>
            <a:srgbClr val="EAF2FB"/>
          </a:solidFill>
          <a:ln w="9525">
            <a:solidFill>
              <a:srgbClr val="BFDC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777240" y="5641848"/>
            <a:ext cx="10643616" cy="457200"/>
          </a:xfrm>
          <a:prstGeom prst="rect">
            <a:avLst/>
          </a:prstGeom>
          <a:noFill/>
        </p:spPr>
        <p:txBody>
          <a:bodyPr wrap="square" lIns="0" rIns="0" tIns="0" bIns="0">
            <a:spAutoFit/>
          </a:bodyPr>
          <a:lstStyle/>
          <a:p>
            <a:pPr>
              <a:lnSpc>
                <a:spcPct val="132000"/>
              </a:lnSpc>
            </a:pPr>
            <a:r>
              <a:rPr sz="1100" b="1">
                <a:solidFill>
                  <a:srgbClr val="00548F"/>
                </a:solidFill>
                <a:latin typeface="Consolas"/>
              </a:rPr>
              <a:t>Working prototype   mplads-risk-monitor-web.vercel.app          API   mplads-risk-monitor.vercel.app/api/overview          Source   github.com/fbivinay/SIH-HACKATHON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7490</TotalTime>
  <Words>338</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R VINAY KUMAR</cp:lastModifiedBy>
  <cp:revision>150</cp:revision>
  <dcterms:created xsi:type="dcterms:W3CDTF">2013-12-12T18:46:50Z</dcterms:created>
  <dcterms:modified xsi:type="dcterms:W3CDTF">2026-09-05T12:23:53Z</dcterms:modified>
  <cp:category/>
</cp:coreProperties>
</file>