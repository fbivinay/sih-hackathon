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youtu.be/0_Fwr7USExc" TargetMode="External"/><Relationship Id="rId6" Type="http://schemas.openxmlformats.org/officeDocument/2006/relationships/hyperlink" Target="https://mplads-risk-monitor-web.vercel.app" TargetMode="External"/><Relationship Id="rId7" Type="http://schemas.openxmlformats.org/officeDocument/2006/relationships/hyperlink" Target="https://github.com/fbivinay/SIH-HACKATH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hyperlink" Target="https://mplads-risk-monitor-web.vercel.ap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hyperlink" Target="https://mplads-risk-monitor-web.vercel.app" TargetMode="External"/><Relationship Id="rId7" Type="http://schemas.openxmlformats.org/officeDocument/2006/relationships/hyperlink" Target="https://youtu.be/0_Fwr7USExc" TargetMode="External"/><Relationship Id="rId8" Type="http://schemas.openxmlformats.org/officeDocument/2006/relationships/hyperlink" Target="https://github.com/fbivinay/SIH-HACKATH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hyperlink" Target="https://mplads-risk-monitor-web.vercel.app" TargetMode="External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hyperlink" Target="https://mplads-risk-monitor-web.vercel.app" TargetMode="External"/><Relationship Id="rId7" Type="http://schemas.openxmlformats.org/officeDocument/2006/relationships/image" Target="../media/image10.png"/><Relationship Id="rId8" Type="http://schemas.openxmlformats.org/officeDocument/2006/relationships/image" Target="../media/image14.png"/><Relationship Id="rId9" Type="http://schemas.openxmlformats.org/officeDocument/2006/relationships/hyperlink" Target="https://youtu.be/0_Fwr7USExc" TargetMode="External"/><Relationship Id="rId10" Type="http://schemas.openxmlformats.org/officeDocument/2006/relationships/hyperlink" Target="https://github.com/fbivinay/SIH-HACKATH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101828"/>
                </a:solidFill>
                <a:latin typeface="Calibri"/>
              </a:rPr>
              <a:t>Problem Statement ID – </a:t>
            </a:r>
            <a:r>
              <a:rPr sz="1200">
                <a:solidFill>
                  <a:srgbClr val="5A6472"/>
                </a:solidFill>
                <a:latin typeface="Calibri"/>
              </a:rPr>
              <a:t>SIH26102</a:t>
            </a:r>
            <a:endParaRPr lang="en-US" dirty="0"/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101828"/>
                </a:solidFill>
                <a:latin typeface="Calibri"/>
              </a:rPr>
              <a:t>Problem Statement Title – </a:t>
            </a:r>
            <a:r>
              <a:rPr sz="1050">
                <a:solidFill>
                  <a:srgbClr val="5A6472"/>
                </a:solidFill>
                <a:latin typeface="Calibri"/>
              </a:rPr>
              <a:t>Development of an AI-powered system to detect anomalies, fraud, and inefficiencies in MPLAD Scheme implementation regd.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101828"/>
                </a:solidFill>
                <a:latin typeface="Calibri"/>
              </a:rPr>
              <a:t>Theme – </a:t>
            </a:r>
            <a:r>
              <a:rPr sz="1200">
                <a:solidFill>
                  <a:srgbClr val="5A6472"/>
                </a:solidFill>
                <a:latin typeface="Calibri"/>
              </a:rPr>
              <a:t>Smart Automation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101828"/>
                </a:solidFill>
                <a:latin typeface="Calibri"/>
              </a:rPr>
              <a:t>PS Category – </a:t>
            </a:r>
            <a:r>
              <a:rPr sz="1200">
                <a:solidFill>
                  <a:srgbClr val="5A6472"/>
                </a:solidFill>
                <a:latin typeface="Calibri"/>
              </a:rPr>
              <a:t>Software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101828"/>
                </a:solidFill>
                <a:latin typeface="Calibri"/>
              </a:rPr>
              <a:t>Team ID – </a:t>
            </a:r>
            <a:r>
              <a:rPr sz="1200">
                <a:solidFill>
                  <a:srgbClr val="5A6472"/>
                </a:solidFill>
                <a:latin typeface="Calibri"/>
              </a:rPr>
              <a:t>&lt;Team ID&gt;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101828"/>
                </a:solidFill>
                <a:latin typeface="Calibri"/>
              </a:rPr>
              <a:t>Team Name – </a:t>
            </a:r>
            <a:r>
              <a:rPr sz="1200">
                <a:solidFill>
                  <a:srgbClr val="5A6472"/>
                </a:solidFill>
                <a:latin typeface="Calibri"/>
              </a:rPr>
              <a:t>&lt;Team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KASAUTI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078992"/>
            <a:ext cx="10972800" cy="676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783" b="0" u="sng" dirty="0" i="1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83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83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83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51" y="1783080"/>
            <a:ext cx="10381593" cy="4014215"/>
          </a:xfrm>
          <a:prstGeom prst="rect">
            <a:avLst/>
          </a:prstGeom>
        </p:spPr>
      </p:pic>
      <p:sp>
        <p:nvSpPr>
          <p:cNvPr id="15364" name="Rounded Rectangle 15363">
            <a:hlinkClick r:id="rId5"/>
          </p:cNvPr>
          <p:cNvSpPr/>
          <p:nvPr/>
        </p:nvSpPr>
        <p:spPr>
          <a:xfrm>
            <a:off x="3815097" y="5897879"/>
            <a:ext cx="1437289" cy="365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1">
                <a:solidFill>
                  <a:srgbClr val="7A1A12"/>
                </a:solidFill>
                <a:latin typeface="Calibri"/>
              </a:rPr>
              <a:t>DEMO VIDEO</a:t>
            </a:r>
          </a:p>
          <a:p>
            <a:pPr algn="ctr"/>
            <a:r>
              <a:rPr sz="650">
                <a:solidFill>
                  <a:srgbClr val="5A6472"/>
                </a:solidFill>
                <a:latin typeface="Calibri"/>
              </a:rPr>
              <a:t>2½ minute walkthrough</a:t>
            </a:r>
          </a:p>
        </p:txBody>
      </p:sp>
      <p:sp>
        <p:nvSpPr>
          <p:cNvPr id="15365" name="Rounded Rectangle 15364">
            <a:hlinkClick r:id="rId6"/>
          </p:cNvPr>
          <p:cNvSpPr/>
          <p:nvPr/>
        </p:nvSpPr>
        <p:spPr>
          <a:xfrm>
            <a:off x="5380403" y="5897879"/>
            <a:ext cx="1437289" cy="365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1">
                <a:solidFill>
                  <a:srgbClr val="7A1A12"/>
                </a:solidFill>
                <a:latin typeface="Calibri"/>
              </a:rPr>
              <a:t>PROTOTYPE</a:t>
            </a:r>
          </a:p>
          <a:p>
            <a:pPr algn="ctr"/>
            <a:r>
              <a:rPr sz="650">
                <a:solidFill>
                  <a:srgbClr val="5A6472"/>
                </a:solidFill>
                <a:latin typeface="Calibri"/>
              </a:rPr>
              <a:t>the running system</a:t>
            </a:r>
          </a:p>
        </p:txBody>
      </p:sp>
      <p:sp>
        <p:nvSpPr>
          <p:cNvPr id="15366" name="Rounded Rectangle 15365">
            <a:hlinkClick r:id="rId7"/>
          </p:cNvPr>
          <p:cNvSpPr/>
          <p:nvPr/>
        </p:nvSpPr>
        <p:spPr>
          <a:xfrm>
            <a:off x="6945708" y="5897879"/>
            <a:ext cx="1437289" cy="365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1">
                <a:solidFill>
                  <a:srgbClr val="7A1A12"/>
                </a:solidFill>
                <a:latin typeface="Calibri"/>
              </a:rPr>
              <a:t>GITHUB</a:t>
            </a:r>
          </a:p>
          <a:p>
            <a:pPr algn="ctr"/>
            <a:r>
              <a:rPr sz="650">
                <a:solidFill>
                  <a:srgbClr val="5A6472"/>
                </a:solidFill>
                <a:latin typeface="Calibri"/>
              </a:rPr>
              <a:t>loader · scorer · API ·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078992"/>
            <a:ext cx="10972800" cy="676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783080"/>
            <a:ext cx="10972800" cy="1248156"/>
          </a:xfrm>
          <a:prstGeom prst="rect">
            <a:avLst/>
          </a:prstGeom>
        </p:spPr>
      </p:pic>
      <p:pic>
        <p:nvPicPr>
          <p:cNvPr id="17412" name="Picture 17411" descr="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177540"/>
            <a:ext cx="5532120" cy="2077618"/>
          </a:xfrm>
          <a:prstGeom prst="rect">
            <a:avLst/>
          </a:prstGeom>
        </p:spPr>
      </p:pic>
      <p:pic>
        <p:nvPicPr>
          <p:cNvPr id="17413" name="Picture 17412" descr="work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77540"/>
            <a:ext cx="5230368" cy="239616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355080" y="5619422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7A1A12"/>
                </a:solidFill>
                <a:latin typeface="Calibri"/>
                <a:hlinkClick r:id="rId7"/>
              </a:rPr>
              <a:t>Every flag carries the method that produced it — a scored work,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078992"/>
            <a:ext cx="10972800" cy="676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50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50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950" b="0" i="1" u="none" strike="noStrike" kern="1200" cap="none" spc="0" normalizeH="0" noProof="0" dirty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fe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783080"/>
            <a:ext cx="10972800" cy="2921508"/>
          </a:xfrm>
          <a:prstGeom prst="rect">
            <a:avLst/>
          </a:prstGeom>
        </p:spPr>
      </p:pic>
      <p:pic>
        <p:nvPicPr>
          <p:cNvPr id="17412" name="Picture 17411" descr="provenance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832603"/>
            <a:ext cx="3017520" cy="1382401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840480" y="4850891"/>
            <a:ext cx="7744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5A6472"/>
                </a:solidFill>
                <a:latin typeface="Calibri"/>
              </a:rPr>
              <a:t>Provenance is checked, not asserted.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0" y="5106923"/>
            <a:ext cx="77449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472"/>
                </a:solidFill>
                <a:latin typeface="Calibri"/>
              </a:rPr>
              <a:t>Both hops are published separately — ours to the source, and the source to MoSPI — so a gap is never read as our error when it is upstream lag. Worst gap on the last run: 3.77%. 36 of 36 states match the source exactly.</a:t>
            </a:r>
          </a:p>
        </p:txBody>
      </p:sp>
      <p:sp>
        <p:nvSpPr>
          <p:cNvPr id="17415" name="Rounded Rectangle 17414">
            <a:hlinkClick r:id="rId7"/>
          </p:cNvPr>
          <p:cNvSpPr/>
          <p:nvPr/>
        </p:nvSpPr>
        <p:spPr>
          <a:xfrm>
            <a:off x="3840480" y="5673851"/>
            <a:ext cx="2496312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7A1A12"/>
                </a:solidFill>
                <a:latin typeface="Calibri"/>
              </a:rPr>
              <a:t>DEMO VIDEO</a:t>
            </a:r>
          </a:p>
          <a:p>
            <a:pPr algn="ctr"/>
            <a:r>
              <a:rPr sz="700">
                <a:solidFill>
                  <a:srgbClr val="5A6472"/>
                </a:solidFill>
                <a:latin typeface="Calibri"/>
              </a:rPr>
              <a:t>2½ minute walkthrough</a:t>
            </a:r>
          </a:p>
        </p:txBody>
      </p:sp>
      <p:sp>
        <p:nvSpPr>
          <p:cNvPr id="17416" name="Rounded Rectangle 17415">
            <a:hlinkClick r:id="rId6"/>
          </p:cNvPr>
          <p:cNvSpPr/>
          <p:nvPr/>
        </p:nvSpPr>
        <p:spPr>
          <a:xfrm>
            <a:off x="6464808" y="5673851"/>
            <a:ext cx="2496312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7A1A12"/>
                </a:solidFill>
                <a:latin typeface="Calibri"/>
              </a:rPr>
              <a:t>PROTOTYPE</a:t>
            </a:r>
          </a:p>
          <a:p>
            <a:pPr algn="ctr"/>
            <a:r>
              <a:rPr sz="700">
                <a:solidFill>
                  <a:srgbClr val="5A6472"/>
                </a:solidFill>
                <a:latin typeface="Calibri"/>
              </a:rPr>
              <a:t>the running system</a:t>
            </a:r>
          </a:p>
        </p:txBody>
      </p:sp>
      <p:sp>
        <p:nvSpPr>
          <p:cNvPr id="17417" name="Rounded Rectangle 17416">
            <a:hlinkClick r:id="rId8"/>
          </p:cNvPr>
          <p:cNvSpPr/>
          <p:nvPr/>
        </p:nvSpPr>
        <p:spPr>
          <a:xfrm>
            <a:off x="9089136" y="5673851"/>
            <a:ext cx="2496312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7A1A12"/>
                </a:solidFill>
                <a:latin typeface="Calibri"/>
              </a:rPr>
              <a:t>GITHUB</a:t>
            </a:r>
          </a:p>
          <a:p>
            <a:pPr algn="ctr"/>
            <a:r>
              <a:rPr sz="700">
                <a:solidFill>
                  <a:srgbClr val="5A6472"/>
                </a:solidFill>
                <a:latin typeface="Calibri"/>
              </a:rPr>
              <a:t>loader · scorer · API · tests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078992"/>
            <a:ext cx="10972800" cy="676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50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1783080"/>
            <a:ext cx="10058400" cy="1986534"/>
          </a:xfrm>
          <a:prstGeom prst="rect">
            <a:avLst/>
          </a:prstGeom>
        </p:spPr>
      </p:pic>
      <p:pic>
        <p:nvPicPr>
          <p:cNvPr id="17412" name="Picture 17411" descr="alerts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915918"/>
            <a:ext cx="4572000" cy="2094547"/>
          </a:xfrm>
          <a:prstGeom prst="rect">
            <a:avLst/>
          </a:prstGeom>
        </p:spPr>
      </p:pic>
      <p:pic>
        <p:nvPicPr>
          <p:cNvPr id="17413" name="Picture 17412" descr="map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915918"/>
            <a:ext cx="4572000" cy="2094547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188720" y="6047041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Calibri"/>
              </a:rPr>
              <a:t>The queue an official works through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00800" y="6047041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Calibri"/>
              </a:rPr>
              <a:t>Risk by state, every district covered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078992"/>
            <a:ext cx="10972800" cy="676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50" noProof="0" dirty="0" i="1" b="0">
                <a:solidFill>
                  <a:srgbClr val="5A6472"/>
                </a:solidFill>
                <a:latin typeface="Calibri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ef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783080"/>
            <a:ext cx="10972800" cy="2023110"/>
          </a:xfrm>
          <a:prstGeom prst="rect">
            <a:avLst/>
          </a:prstGeom>
        </p:spPr>
      </p:pic>
      <p:pic>
        <p:nvPicPr>
          <p:cNvPr id="17412" name="Picture 17411" descr="agencies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934205"/>
            <a:ext cx="3520440" cy="1612801"/>
          </a:xfrm>
          <a:prstGeom prst="rect">
            <a:avLst/>
          </a:prstGeom>
        </p:spPr>
      </p:pic>
      <p:pic>
        <p:nvPicPr>
          <p:cNvPr id="17413" name="Picture 17412" descr="alerts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3934205"/>
            <a:ext cx="3520440" cy="1612801"/>
          </a:xfrm>
          <a:prstGeom prst="rect">
            <a:avLst/>
          </a:prstGeom>
        </p:spPr>
      </p:pic>
      <p:pic>
        <p:nvPicPr>
          <p:cNvPr id="17414" name="Picture 17413" descr="overview.png">
            <a:hlinkClick r:id="rId6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3934205"/>
            <a:ext cx="3520440" cy="1711813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12648" y="5682595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Calibri"/>
              </a:rPr>
              <a:t>Every figure in this deck is live on the prototype, refreshed nightly and reconciled against the ministry's own dashboard.</a:t>
            </a:r>
          </a:p>
        </p:txBody>
      </p:sp>
      <p:sp>
        <p:nvSpPr>
          <p:cNvPr id="17416" name="Rounded Rectangle 17415">
            <a:hlinkClick r:id="rId9"/>
          </p:cNvPr>
          <p:cNvSpPr/>
          <p:nvPr/>
        </p:nvSpPr>
        <p:spPr>
          <a:xfrm>
            <a:off x="1984248" y="5902051"/>
            <a:ext cx="2645664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7A1A12"/>
                </a:solidFill>
                <a:latin typeface="Calibri"/>
              </a:rPr>
              <a:t>DEMO VIDEO</a:t>
            </a:r>
          </a:p>
          <a:p>
            <a:pPr algn="ctr"/>
            <a:r>
              <a:rPr sz="750">
                <a:solidFill>
                  <a:srgbClr val="5A6472"/>
                </a:solidFill>
                <a:latin typeface="Calibri"/>
              </a:rPr>
              <a:t>2½ minute walkthrough</a:t>
            </a:r>
          </a:p>
        </p:txBody>
      </p:sp>
      <p:sp>
        <p:nvSpPr>
          <p:cNvPr id="17417" name="Rounded Rectangle 17416">
            <a:hlinkClick r:id="rId6"/>
          </p:cNvPr>
          <p:cNvSpPr/>
          <p:nvPr/>
        </p:nvSpPr>
        <p:spPr>
          <a:xfrm>
            <a:off x="4776215" y="5902051"/>
            <a:ext cx="2645664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7A1A12"/>
                </a:solidFill>
                <a:latin typeface="Calibri"/>
              </a:rPr>
              <a:t>PROTOTYPE</a:t>
            </a:r>
          </a:p>
          <a:p>
            <a:pPr algn="ctr"/>
            <a:r>
              <a:rPr sz="750">
                <a:solidFill>
                  <a:srgbClr val="5A6472"/>
                </a:solidFill>
                <a:latin typeface="Calibri"/>
              </a:rPr>
              <a:t>the running system</a:t>
            </a:r>
          </a:p>
        </p:txBody>
      </p:sp>
      <p:sp>
        <p:nvSpPr>
          <p:cNvPr id="17418" name="Rounded Rectangle 17417">
            <a:hlinkClick r:id="rId10"/>
          </p:cNvPr>
          <p:cNvSpPr/>
          <p:nvPr/>
        </p:nvSpPr>
        <p:spPr>
          <a:xfrm>
            <a:off x="7568184" y="5902051"/>
            <a:ext cx="2645664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7A1A12"/>
                </a:solidFill>
                <a:latin typeface="Calibri"/>
              </a:rPr>
              <a:t>GITHUB</a:t>
            </a:r>
          </a:p>
          <a:p>
            <a:pPr algn="ctr"/>
            <a:r>
              <a:rPr sz="750">
                <a:solidFill>
                  <a:srgbClr val="5A6472"/>
                </a:solidFill>
                <a:latin typeface="Calibri"/>
              </a:rPr>
              <a:t>loader · scorer · API · tests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 VINAY KUMAR</cp:lastModifiedBy>
  <cp:revision>150</cp:revision>
  <dcterms:created xsi:type="dcterms:W3CDTF">2013-12-12T18:46:50Z</dcterms:created>
  <dcterms:modified xsi:type="dcterms:W3CDTF">2026-09-05T12:23:53Z</dcterms:modified>
  <cp:category/>
</cp:coreProperties>
</file>