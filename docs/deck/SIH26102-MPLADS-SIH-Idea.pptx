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An AI-powered monitoring system that reads MPLADS project data, detects suspicious patterns/anomalies and inefficiencies, assigns a risk score, and helps authorities decide which projects need verification.</a:t>
            </a:r>
          </a:p>
          <a:p>
            <a:pPr>
              <a:lnSpc>
                <a:spcPct val="120000"/>
              </a:lnSpc>
              <a:spcAft>
                <a:spcPts val="700"/>
              </a:spcAft>
            </a:pPr>
            <a:r>
              <a:rPr sz="1300" b="1">
                <a:solidFill>
                  <a:srgbClr val="101828"/>
                </a:solidFill>
                <a:latin typeface="Calibri"/>
              </a:rPr>
              <a:t>Theme – </a:t>
            </a:r>
            <a:r>
              <a:rPr sz="1200">
                <a:solidFill>
                  <a:srgbClr val="5A6472"/>
                </a:solidFill>
                <a:latin typeface="Calibri"/>
              </a:rPr>
              <a:t>&lt;Theme as listed on the portal&gt;</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MPLADS RISK MONITOR</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246,765 works, 270,934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
4 cohort detectors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officials
triage and sign off</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it addresses the problem</a:t>
            </a:r>
          </a:p>
        </p:txBody>
      </p:sp>
      <p:sp>
        <p:nvSpPr>
          <p:cNvPr id="15381" name="TextBox 15380"/>
          <p:cNvSpPr txBox="1"/>
          <p:nvPr/>
        </p:nvSpPr>
        <p:spPr>
          <a:xfrm>
            <a:off x="813816" y="3571240"/>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Reads the published MPLADS record end to end and scores every work against comparable works in the same district and sector. 48,687 works clear the review threshold, carrying Rs 4,618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for MPLADS, so they are not shown. No LLM can move a score; scoring is deterministic and auditable.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4813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pandas, scikit-learn</a:t>
            </a:r>
          </a:p>
        </p:txBody>
      </p:sp>
      <p:sp>
        <p:nvSpPr>
          <p:cNvPr id="17415" name="Rounded Rectangle 17414"/>
          <p:cNvSpPr/>
          <p:nvPr/>
        </p:nvSpPr>
        <p:spPr>
          <a:xfrm>
            <a:off x="3396996" y="1783080"/>
            <a:ext cx="2619756" cy="14813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4813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4813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85 automated tests
Live since day one</a:t>
            </a:r>
          </a:p>
        </p:txBody>
      </p:sp>
      <p:sp>
        <p:nvSpPr>
          <p:cNvPr id="17427" name="TextBox 17426"/>
          <p:cNvSpPr txBox="1"/>
          <p:nvPr/>
        </p:nvSpPr>
        <p:spPr>
          <a:xfrm>
            <a:off x="612648" y="3483864"/>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794760"/>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87705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18795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794760"/>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87705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18795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794760"/>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87705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18795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794760"/>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87705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18795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794760"/>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87705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18795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690872"/>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5001768"/>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5084064"/>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394960"/>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5001768"/>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5084064"/>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394960"/>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5001768"/>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5084064"/>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297 findings</a:t>
            </a:r>
          </a:p>
        </p:txBody>
      </p:sp>
      <p:sp>
        <p:nvSpPr>
          <p:cNvPr id="17452" name="TextBox 17451"/>
          <p:cNvSpPr txBox="1"/>
          <p:nvPr/>
        </p:nvSpPr>
        <p:spPr>
          <a:xfrm>
            <a:off x="6291072" y="5394960"/>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5001768"/>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5084064"/>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214 findings</a:t>
            </a:r>
          </a:p>
        </p:txBody>
      </p:sp>
      <p:sp>
        <p:nvSpPr>
          <p:cNvPr id="17455" name="TextBox 17454"/>
          <p:cNvSpPr txBox="1"/>
          <p:nvPr/>
        </p:nvSpPr>
        <p:spPr>
          <a:xfrm>
            <a:off x="9066276" y="5394960"/>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246,765 works scored, Rs 6,341 Cr reconciled,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85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246,765</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6,341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expenditure reconciled</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48,687</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4,618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959</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650748"/>
          </a:xfrm>
          <a:prstGeom prst="rect">
            <a:avLst/>
          </a:prstGeom>
          <a:noFill/>
        </p:spPr>
        <p:txBody>
          <a:bodyPr wrap="square" lIns="0" rIns="0" tIns="0" bIns="0">
            <a:spAutoFit/>
          </a:bodyPr>
          <a:lstStyle/>
          <a:p>
            <a:pPr>
              <a:lnSpc>
                <a:spcPct val="122000"/>
              </a:lnSpc>
            </a:pPr>
            <a:r>
              <a:rPr sz="1050" b="0">
                <a:solidFill>
                  <a:srgbClr val="5A6472"/>
                </a:solidFill>
                <a:latin typeface="Calibri"/>
              </a:rPr>
              <a:t>Sees which of their own recommendations are stalling, and how much of the allocation is still idle.</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650748"/>
          </a:xfrm>
          <a:prstGeom prst="rect">
            <a:avLst/>
          </a:prstGeom>
          <a:noFill/>
        </p:spPr>
        <p:txBody>
          <a:bodyPr wrap="square" lIns="0" rIns="0" tIns="0" bIns="0">
            <a:spAutoFit/>
          </a:bodyPr>
          <a:lstStyle/>
          <a:p>
            <a:pPr>
              <a:lnSpc>
                <a:spcPct val="122000"/>
              </a:lnSpc>
            </a:pPr>
            <a:r>
              <a:rPr sz="1050" b="0">
                <a:solidFill>
                  <a:srgbClr val="5A6472"/>
                </a:solidFill>
                <a:latin typeface="Calibri"/>
              </a:rPr>
              <a:t>Gets a ranked shortlist instead of a register, with the evidence for each flag already assembled.</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488060"/>
          </a:xfrm>
          <a:prstGeom prst="rect">
            <a:avLst/>
          </a:prstGeom>
          <a:noFill/>
        </p:spPr>
        <p:txBody>
          <a:bodyPr wrap="square" lIns="0" rIns="0" tIns="0" bIns="0">
            <a:spAutoFit/>
          </a:bodyPr>
          <a:lstStyle/>
          <a:p>
            <a:pPr>
              <a:lnSpc>
                <a:spcPct val="122000"/>
              </a:lnSpc>
            </a:pPr>
            <a:r>
              <a:rPr sz="1050" b="0">
                <a:solidFill>
                  <a:srgbClr val="5A6472"/>
                </a:solidFill>
                <a:latin typeface="Calibri"/>
              </a:rPr>
              <a:t>Compares agencies on delay, vendor concentration and year-end bunching across districts.</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650748"/>
          </a:xfrm>
          <a:prstGeom prst="rect">
            <a:avLst/>
          </a:prstGeom>
          <a:noFill/>
        </p:spPr>
        <p:txBody>
          <a:bodyPr wrap="square" lIns="0" rIns="0" tIns="0" bIns="0">
            <a:spAutoFit/>
          </a:bodyPr>
          <a:lstStyle/>
          <a:p>
            <a:pPr>
              <a:lnSpc>
                <a:spcPct val="122000"/>
              </a:lnSpc>
            </a:pPr>
            <a:r>
              <a:rPr sz="1050" b="0">
                <a:solidFill>
                  <a:srgbClr val="5A6472"/>
                </a:solidFill>
                <a:latin typeface="Calibri"/>
              </a:rPr>
              <a:t>Sees national patterns and where scheme rules are breaking, without waiting for a manual audit.</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Data and scheme rules</a:t>
            </a:r>
          </a:p>
        </p:txBody>
      </p:sp>
      <p:sp>
        <p:nvSpPr>
          <p:cNvPr id="17414" name="TextBox 17413"/>
          <p:cNvSpPr txBox="1"/>
          <p:nvPr/>
        </p:nvSpPr>
        <p:spPr>
          <a:xfrm>
            <a:off x="81381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MPLADS programme data via Empowered Indian (empoweredindian.in), which aggregates the official MoSPI portal at mplads.mospi.gov.in — 246,765 works, 270,934 payments, 1,547 MP-terms across 776 districts and 62,680 vendors.
MPLADS Guidelines, Ministry of Statistics and Programme Implementation: permissible works, sanction ceilings and the annual entitlement per MP.
Reconciled against the source's own published totals; 3,121 rows rejected and recorded rather than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533906"/>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