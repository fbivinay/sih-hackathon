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3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hyperlink" Target="https://drive.google.com/file/d/1z27mUvNq-KbGzCK_8p_dpdtpBMCligM6/view?usp=drivesdk" TargetMode="External"/><Relationship Id="rId8" Type="http://schemas.openxmlformats.org/officeDocument/2006/relationships/hyperlink" Target="https://github.com/fbivinay/SIH-HACKATHON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mplads-risk-monitor-web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hyperlink" Target="https://drive.google.com/file/d/1z27mUvNq-KbGzCK_8p_dpdtpBMCligM6/view?usp=drivesdk" TargetMode="External"/><Relationship Id="rId8" Type="http://schemas.openxmlformats.org/officeDocument/2006/relationships/hyperlink" Target="https://github.com/fbivinay/SIH-HACKATH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image" Target="../media/image11.png"/><Relationship Id="rId8" Type="http://schemas.openxmlformats.org/officeDocument/2006/relationships/image" Target="../media/image4.png"/><Relationship Id="rId9" Type="http://schemas.openxmlformats.org/officeDocument/2006/relationships/hyperlink" Target="https://drive.google.com/file/d/1z27mUvNq-KbGzCK_8p_dpdtpBMCligM6/view?usp=drivesdk" TargetMode="External"/><Relationship Id="rId10" Type="http://schemas.openxmlformats.org/officeDocument/2006/relationships/hyperlink" Target="https://github.com/fbivinay/SIH-HACKATH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Problem Statement ID – </a:t>
            </a:r>
            <a:r>
              <a:rPr sz="1200">
                <a:solidFill>
                  <a:srgbClr val="5A6472"/>
                </a:solidFill>
                <a:latin typeface="Calibri"/>
              </a:rPr>
              <a:t>SIH26102</a:t>
            </a:r>
            <a:endParaRPr lang="en-US" dirty="0"/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Problem Statement Title – </a:t>
            </a:r>
            <a:r>
              <a:rPr sz="1050">
                <a:solidFill>
                  <a:srgbClr val="5A6472"/>
                </a:solidFill>
                <a:latin typeface="Calibri"/>
              </a:rPr>
              <a:t>Development of an AI-powered system to detect anomalies, fraud, and inefficiencies in MPLAD Scheme implementation regd.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Theme – </a:t>
            </a:r>
            <a:r>
              <a:rPr sz="1200">
                <a:solidFill>
                  <a:srgbClr val="5A6472"/>
                </a:solidFill>
                <a:latin typeface="Calibri"/>
              </a:rPr>
              <a:t>Smart Automation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PS Category – </a:t>
            </a:r>
            <a:r>
              <a:rPr sz="1200">
                <a:solidFill>
                  <a:srgbClr val="5A6472"/>
                </a:solidFill>
                <a:latin typeface="Calibri"/>
              </a:rPr>
              <a:t>Software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Team ID – </a:t>
            </a:r>
            <a:r>
              <a:rPr sz="1200">
                <a:solidFill>
                  <a:srgbClr val="5A6472"/>
                </a:solidFill>
                <a:latin typeface="Calibri"/>
              </a:rPr>
              <a:t>&lt;Team ID&gt;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Team Name – </a:t>
            </a:r>
            <a:r>
              <a:rPr sz="1200">
                <a:solidFill>
                  <a:srgbClr val="5A6472"/>
                </a:solidFill>
                <a:latin typeface="Calibri"/>
              </a:rPr>
              <a:t>&lt;Team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lang="en-US" sz="4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KASAUTI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00000"/>
              </a:lnSpc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918" b="0" u="sng" dirty="0" i="1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18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18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18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8595360" cy="3671446"/>
          </a:xfrm>
          <a:prstGeom prst="rect">
            <a:avLst/>
          </a:prstGeom>
        </p:spPr>
      </p:pic>
      <p:pic>
        <p:nvPicPr>
          <p:cNvPr id="15364" name="Picture 15363" descr="overview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1783080"/>
            <a:ext cx="2359152" cy="1147137"/>
          </a:xfrm>
          <a:prstGeom prst="rect">
            <a:avLst/>
          </a:prstGeom>
        </p:spPr>
      </p:pic>
      <p:sp>
        <p:nvSpPr>
          <p:cNvPr id="15365" name="TextBox 15364"/>
          <p:cNvSpPr txBox="1"/>
          <p:nvPr/>
        </p:nvSpPr>
        <p:spPr>
          <a:xfrm>
            <a:off x="9372600" y="2985081"/>
            <a:ext cx="23591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>
                <a:solidFill>
                  <a:srgbClr val="5A6472"/>
                </a:solidFill>
                <a:latin typeface="Calibri"/>
              </a:rPr>
              <a:t>48,296 flagged of 2,50,839</a:t>
            </a:r>
          </a:p>
        </p:txBody>
      </p:sp>
      <p:sp>
        <p:nvSpPr>
          <p:cNvPr id="15366" name="Rounded Rectangle 15365">
            <a:hlinkClick r:id="rId7"/>
          </p:cNvPr>
          <p:cNvSpPr/>
          <p:nvPr/>
        </p:nvSpPr>
        <p:spPr>
          <a:xfrm>
            <a:off x="9372600" y="3259401"/>
            <a:ext cx="2359152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DEMO VIDEO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2 minute walkthrough</a:t>
            </a:r>
          </a:p>
        </p:txBody>
      </p:sp>
      <p:sp>
        <p:nvSpPr>
          <p:cNvPr id="15367" name="Rounded Rectangle 15366">
            <a:hlinkClick r:id="rId6"/>
          </p:cNvPr>
          <p:cNvSpPr/>
          <p:nvPr/>
        </p:nvSpPr>
        <p:spPr>
          <a:xfrm>
            <a:off x="9372600" y="3853761"/>
            <a:ext cx="2359152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PROTOTYPE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the running system</a:t>
            </a:r>
          </a:p>
        </p:txBody>
      </p:sp>
      <p:sp>
        <p:nvSpPr>
          <p:cNvPr id="15368" name="Rounded Rectangle 15367">
            <a:hlinkClick r:id="rId8"/>
          </p:cNvPr>
          <p:cNvSpPr/>
          <p:nvPr/>
        </p:nvSpPr>
        <p:spPr>
          <a:xfrm>
            <a:off x="9372600" y="4448121"/>
            <a:ext cx="2359152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GITHUB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loader · scorer · API ·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10972800" cy="1248156"/>
          </a:xfrm>
          <a:prstGeom prst="rect">
            <a:avLst/>
          </a:prstGeom>
        </p:spPr>
      </p:pic>
      <p:pic>
        <p:nvPicPr>
          <p:cNvPr id="17412" name="Picture 17411" descr="st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177540"/>
            <a:ext cx="5532120" cy="2077618"/>
          </a:xfrm>
          <a:prstGeom prst="rect">
            <a:avLst/>
          </a:prstGeom>
        </p:spPr>
      </p:pic>
      <p:pic>
        <p:nvPicPr>
          <p:cNvPr id="17413" name="Picture 17412" descr="work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177540"/>
            <a:ext cx="5230368" cy="239616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6355080" y="5619422"/>
            <a:ext cx="5230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7A1A12"/>
                </a:solidFill>
                <a:latin typeface="Calibri"/>
                <a:hlinkClick r:id="rId7"/>
              </a:rPr>
              <a:t>Every flag carries the method that produced it — a scored work,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5A6472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950" b="0" i="1" u="none" strike="noStrike" kern="1200" cap="none" spc="0" normalizeH="0" noProof="0" dirty="0">
                <a:ln>
                  <a:noFill/>
                </a:ln>
                <a:solidFill>
                  <a:srgbClr val="5A6472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fe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10972800" cy="2921508"/>
          </a:xfrm>
          <a:prstGeom prst="rect">
            <a:avLst/>
          </a:prstGeom>
        </p:spPr>
      </p:pic>
      <p:pic>
        <p:nvPicPr>
          <p:cNvPr id="17412" name="Picture 17411" descr="provenance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4832603"/>
            <a:ext cx="3017520" cy="1382401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840480" y="4850891"/>
            <a:ext cx="7744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5A6472"/>
                </a:solidFill>
                <a:latin typeface="Calibri"/>
              </a:rPr>
              <a:t>Provenance is checked, not asserted.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840480" y="5106923"/>
            <a:ext cx="774496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A6472"/>
                </a:solidFill>
                <a:latin typeface="Calibri"/>
              </a:rPr>
              <a:t>Both hops are published separately — ours to the source, and the source to MoSPI — so a gap is never read as our error when it is upstream lag. Worst gap on the last run: 3.77%. 36 of 36 states match the source exactly.</a:t>
            </a:r>
          </a:p>
        </p:txBody>
      </p:sp>
      <p:sp>
        <p:nvSpPr>
          <p:cNvPr id="17415" name="Rounded Rectangle 17414">
            <a:hlinkClick r:id="rId7"/>
          </p:cNvPr>
          <p:cNvSpPr/>
          <p:nvPr/>
        </p:nvSpPr>
        <p:spPr>
          <a:xfrm>
            <a:off x="3840480" y="5673851"/>
            <a:ext cx="2496312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DEMO VIDEO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2 minute walkthrough</a:t>
            </a:r>
          </a:p>
        </p:txBody>
      </p:sp>
      <p:sp>
        <p:nvSpPr>
          <p:cNvPr id="17416" name="Rounded Rectangle 17415">
            <a:hlinkClick r:id="rId6"/>
          </p:cNvPr>
          <p:cNvSpPr/>
          <p:nvPr/>
        </p:nvSpPr>
        <p:spPr>
          <a:xfrm>
            <a:off x="6464808" y="5673851"/>
            <a:ext cx="2496312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PROTOTYPE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the running system</a:t>
            </a:r>
          </a:p>
        </p:txBody>
      </p:sp>
      <p:sp>
        <p:nvSpPr>
          <p:cNvPr id="17417" name="Rounded Rectangle 17416">
            <a:hlinkClick r:id="rId8"/>
          </p:cNvPr>
          <p:cNvSpPr/>
          <p:nvPr/>
        </p:nvSpPr>
        <p:spPr>
          <a:xfrm>
            <a:off x="9089136" y="5673851"/>
            <a:ext cx="2496312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GITHUB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loader · scorer · API · tests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5A6472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1783080"/>
            <a:ext cx="10058400" cy="1986534"/>
          </a:xfrm>
          <a:prstGeom prst="rect">
            <a:avLst/>
          </a:prstGeom>
        </p:spPr>
      </p:pic>
      <p:pic>
        <p:nvPicPr>
          <p:cNvPr id="17412" name="Picture 17411" descr="alerts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915918"/>
            <a:ext cx="4572000" cy="2094547"/>
          </a:xfrm>
          <a:prstGeom prst="rect">
            <a:avLst/>
          </a:prstGeom>
        </p:spPr>
      </p:pic>
      <p:pic>
        <p:nvPicPr>
          <p:cNvPr id="17413" name="Picture 17412" descr="map.png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3915918"/>
            <a:ext cx="4572000" cy="2094547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1188720" y="6047041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Calibri"/>
              </a:rPr>
              <a:t>The queue an official works through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6047041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Calibri"/>
              </a:rPr>
              <a:t>Risk by state, every district covered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noProof="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ref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10972800" cy="2023110"/>
          </a:xfrm>
          <a:prstGeom prst="rect">
            <a:avLst/>
          </a:prstGeom>
        </p:spPr>
      </p:pic>
      <p:pic>
        <p:nvPicPr>
          <p:cNvPr id="17412" name="Picture 17411" descr="agencies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934205"/>
            <a:ext cx="3520440" cy="1612801"/>
          </a:xfrm>
          <a:prstGeom prst="rect">
            <a:avLst/>
          </a:prstGeom>
        </p:spPr>
      </p:pic>
      <p:pic>
        <p:nvPicPr>
          <p:cNvPr id="17413" name="Picture 17412" descr="alerts.png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5968" y="3934205"/>
            <a:ext cx="3520440" cy="1612801"/>
          </a:xfrm>
          <a:prstGeom prst="rect">
            <a:avLst/>
          </a:prstGeom>
        </p:spPr>
      </p:pic>
      <p:pic>
        <p:nvPicPr>
          <p:cNvPr id="17414" name="Picture 17413" descr="overview.png">
            <a:hlinkClick r:id="rId6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9288" y="3934205"/>
            <a:ext cx="3520440" cy="1711813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612648" y="5682595"/>
            <a:ext cx="10972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Calibri"/>
              </a:rPr>
              <a:t>Every figure in this deck is live on the prototype, refreshed nightly and reconciled against the ministry's own dashboard.</a:t>
            </a:r>
          </a:p>
        </p:txBody>
      </p:sp>
      <p:sp>
        <p:nvSpPr>
          <p:cNvPr id="17416" name="Rounded Rectangle 17415">
            <a:hlinkClick r:id="rId9"/>
          </p:cNvPr>
          <p:cNvSpPr/>
          <p:nvPr/>
        </p:nvSpPr>
        <p:spPr>
          <a:xfrm>
            <a:off x="1984248" y="5902051"/>
            <a:ext cx="2645664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7A1A12"/>
                </a:solidFill>
                <a:latin typeface="Calibri"/>
              </a:rPr>
              <a:t>DEMO VIDEO</a:t>
            </a:r>
          </a:p>
          <a:p>
            <a:pPr algn="ctr"/>
            <a:r>
              <a:rPr sz="750">
                <a:solidFill>
                  <a:srgbClr val="5A6472"/>
                </a:solidFill>
                <a:latin typeface="Calibri"/>
              </a:rPr>
              <a:t>2 minute walkthrough</a:t>
            </a:r>
          </a:p>
        </p:txBody>
      </p:sp>
      <p:sp>
        <p:nvSpPr>
          <p:cNvPr id="17417" name="Rounded Rectangle 17416">
            <a:hlinkClick r:id="rId6"/>
          </p:cNvPr>
          <p:cNvSpPr/>
          <p:nvPr/>
        </p:nvSpPr>
        <p:spPr>
          <a:xfrm>
            <a:off x="4776215" y="5902051"/>
            <a:ext cx="2645664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7A1A12"/>
                </a:solidFill>
                <a:latin typeface="Calibri"/>
              </a:rPr>
              <a:t>PROTOTYPE</a:t>
            </a:r>
          </a:p>
          <a:p>
            <a:pPr algn="ctr"/>
            <a:r>
              <a:rPr sz="750">
                <a:solidFill>
                  <a:srgbClr val="5A6472"/>
                </a:solidFill>
                <a:latin typeface="Calibri"/>
              </a:rPr>
              <a:t>the running system</a:t>
            </a:r>
          </a:p>
        </p:txBody>
      </p:sp>
      <p:sp>
        <p:nvSpPr>
          <p:cNvPr id="17418" name="Rounded Rectangle 17417">
            <a:hlinkClick r:id="rId10"/>
          </p:cNvPr>
          <p:cNvSpPr/>
          <p:nvPr/>
        </p:nvSpPr>
        <p:spPr>
          <a:xfrm>
            <a:off x="7568184" y="5902051"/>
            <a:ext cx="2645664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7A1A12"/>
                </a:solidFill>
                <a:latin typeface="Calibri"/>
              </a:rPr>
              <a:t>GITHUB</a:t>
            </a:r>
          </a:p>
          <a:p>
            <a:pPr algn="ctr"/>
            <a:r>
              <a:rPr sz="750">
                <a:solidFill>
                  <a:srgbClr val="5A6472"/>
                </a:solidFill>
                <a:latin typeface="Calibri"/>
              </a:rPr>
              <a:t>loader · scorer · API · tests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7490</TotalTime>
  <Words>338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 VINAY KUMAR</cp:lastModifiedBy>
  <cp:revision>150</cp:revision>
  <dcterms:created xsi:type="dcterms:W3CDTF">2013-12-12T18:46:50Z</dcterms:created>
  <dcterms:modified xsi:type="dcterms:W3CDTF">2026-09-05T12:23:53Z</dcterms:modified>
  <cp:category/>
</cp:coreProperties>
</file>