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Development of an AI-powered system to detect anomalies, fraud, and inefficiencies in MPLAD Scheme implementation regd.</a:t>
            </a:r>
          </a:p>
          <a:p>
            <a:pPr>
              <a:lnSpc>
                <a:spcPct val="120000"/>
              </a:lnSpc>
              <a:spcAft>
                <a:spcPts val="700"/>
              </a:spcAft>
            </a:pPr>
            <a:r>
              <a:rPr sz="1300" b="1">
                <a:solidFill>
                  <a:srgbClr val="101828"/>
                </a:solidFill>
                <a:latin typeface="Calibri"/>
              </a:rPr>
              <a:t>Theme – </a:t>
            </a:r>
            <a:r>
              <a:rPr sz="1200">
                <a:solidFill>
                  <a:srgbClr val="5A6472"/>
                </a:solidFill>
                <a:latin typeface="Calibri"/>
              </a:rPr>
              <a:t>Smart Automation</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KASAUTI</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250,839 works, 272,263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4 cohort
detectors, 4 written rules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and a trail
of every decision on it</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Kasauti — the touchstone</a:t>
            </a:r>
          </a:p>
        </p:txBody>
      </p:sp>
      <p:sp>
        <p:nvSpPr>
          <p:cNvPr id="15381" name="TextBox 15380"/>
          <p:cNvSpPr txBox="1"/>
          <p:nvPr/>
        </p:nvSpPr>
        <p:spPr>
          <a:xfrm>
            <a:off x="813816" y="3571240"/>
            <a:ext cx="3182112" cy="2045207"/>
          </a:xfrm>
          <a:prstGeom prst="rect">
            <a:avLst/>
          </a:prstGeom>
          <a:noFill/>
        </p:spPr>
        <p:txBody>
          <a:bodyPr wrap="square" lIns="0" rIns="0" tIns="0" bIns="0">
            <a:spAutoFit/>
          </a:bodyPr>
          <a:lstStyle/>
          <a:p>
            <a:pPr>
              <a:lnSpc>
                <a:spcPct val="122000"/>
              </a:lnSpc>
            </a:pPr>
            <a:r>
              <a:rPr sz="1200" b="0">
                <a:solidFill>
                  <a:srgbClr val="5A6472"/>
                </a:solidFill>
                <a:latin typeface="Calibri"/>
              </a:rPr>
              <a:t>A jeweller rubs gold against a kasauti and reads the streak: the stone says which pieces are worth assaying, never which are false. This reads the published MPLADS record end to end and scores every work against comparable works in the same district and sector. 47,719 clear the review threshold, carrying Rs 4,609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673351"/>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 and every decision ever recorded on one survives the next.</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859280"/>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so they are not shown. The rule book states what cannot be checked at all. A language model only labels what a work is, so it meets the right peers; it never scores or flags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Gemini sector labelling</a:t>
            </a:r>
          </a:p>
        </p:txBody>
      </p:sp>
      <p:sp>
        <p:nvSpPr>
          <p:cNvPr id="17415" name="Rounded Rectangle 17414"/>
          <p:cNvSpPr/>
          <p:nvPr/>
        </p:nvSpPr>
        <p:spPr>
          <a:xfrm>
            <a:off x="3396996"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132 automated tests
Live since day one</a:t>
            </a:r>
          </a:p>
        </p:txBody>
      </p:sp>
      <p:sp>
        <p:nvSpPr>
          <p:cNvPr id="17427" name="TextBox 17426"/>
          <p:cNvSpPr txBox="1"/>
          <p:nvPr/>
        </p:nvSpPr>
        <p:spPr>
          <a:xfrm>
            <a:off x="612648" y="3337560"/>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544568"/>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255 findings</a:t>
            </a:r>
          </a:p>
        </p:txBody>
      </p:sp>
      <p:sp>
        <p:nvSpPr>
          <p:cNvPr id="17452" name="TextBox 17451"/>
          <p:cNvSpPr txBox="1"/>
          <p:nvPr/>
        </p:nvSpPr>
        <p:spPr>
          <a:xfrm>
            <a:off x="6291072"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209 findings</a:t>
            </a:r>
          </a:p>
        </p:txBody>
      </p:sp>
      <p:sp>
        <p:nvSpPr>
          <p:cNvPr id="17455" name="TextBox 17454"/>
          <p:cNvSpPr txBox="1"/>
          <p:nvPr/>
        </p:nvSpPr>
        <p:spPr>
          <a:xfrm>
            <a:off x="9066276"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
        <p:nvSpPr>
          <p:cNvPr id="17456" name="Rounded Rectangle 17455"/>
          <p:cNvSpPr/>
          <p:nvPr/>
        </p:nvSpPr>
        <p:spPr>
          <a:xfrm>
            <a:off x="612648" y="5696712"/>
            <a:ext cx="10972800" cy="5669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58952" y="5806440"/>
            <a:ext cx="10680192" cy="365760"/>
          </a:xfrm>
          <a:prstGeom prst="rect">
            <a:avLst/>
          </a:prstGeom>
          <a:noFill/>
        </p:spPr>
        <p:txBody>
          <a:bodyPr wrap="square" lIns="0" rIns="0" tIns="0" bIns="0">
            <a:spAutoFit/>
          </a:bodyPr>
          <a:lstStyle/>
          <a:p>
            <a:pPr>
              <a:lnSpc>
                <a:spcPct val="128000"/>
              </a:lnSpc>
            </a:pPr>
            <a:r>
              <a:rPr sz="1000" b="0">
                <a:solidFill>
                  <a:srgbClr val="5A6472"/>
                </a:solidFill>
                <a:latin typeface="Calibri"/>
              </a:rPr>
              <a:t>Four compliance rules, each published with the exact condition it tests — including the one that cannot fire, because the source publishes a single figure per completed work that serves as both sanction and expenditure.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250,839 works scored, all 36 states reconciled against the official MoSPI dashboard to within 3.8%,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132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250,839</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11,682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allocated, 18th Lok Sabha</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47,719</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4,609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912</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Their own page: what they recommended, what got built, how much allocation was never committed to any work, and which of it is flagged.</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district desk led by the implementing agencies it supervises, with vendor concentration and a ranked shortlist instead of a register.</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state desk ranking every district by the queue it has to clear, and all 36 states on money committed against money paid.</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National patterns, the compliance rule book and a provenance page reconciling every headline figure against the Ministry's own dashboard.</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The designated dataset, and what it serves</a:t>
            </a:r>
          </a:p>
        </p:txBody>
      </p:sp>
      <p:sp>
        <p:nvSpPr>
          <p:cNvPr id="17414" name="TextBox 17413"/>
          <p:cNvSpPr txBox="1"/>
          <p:nvPr/>
        </p:nvSpPr>
        <p:spPr>
          <a:xfrm>
            <a:off x="813816" y="2217928"/>
            <a:ext cx="5029200" cy="2633980"/>
          </a:xfrm>
          <a:prstGeom prst="rect">
            <a:avLst/>
          </a:prstGeom>
          <a:noFill/>
        </p:spPr>
        <p:txBody>
          <a:bodyPr wrap="square" lIns="0" rIns="0" tIns="0" bIns="0">
            <a:spAutoFit/>
          </a:bodyPr>
          <a:lstStyle/>
          <a:p>
            <a:pPr>
              <a:lnSpc>
                <a:spcPct val="122000"/>
              </a:lnSpc>
            </a:pPr>
            <a:r>
              <a:rPr sz="1000" b="0">
                <a:solidFill>
                  <a:srgbClr val="5A6472"/>
                </a:solidFill>
                <a:latin typeface="Calibri"/>
              </a:rPr>
              <a:t>The problem statement names mplads.mospi.gov.in. Its public interface, enumerated from its own JavaScript and called directly: totals, states, districts and member names are open to anyone. Works are not. Completed works come only through a citizen rating form that needs an SMS one-time password on an Indian mobile, returns one member's works in one ward per call, and is rate limited. Recommended works, payments and vendors are not served at all; every other path answers 302 to the login page.
Empowered Indian republishes that record as machine-readable exports. Its own uploader reads the State Bank disbursement portal that MPLADS money is paid through, with a signed-in session cookie at one request every three seconds.
So this system loads those exports - 250,839 works, 272,263 payments, 1,547 MP-terms, 776 districts, 62,969 vendors - and reconciles against the official endpoints on every refresh: five figures within 3.8%, every gap negative because our snapshot trails a portal that gains works overnight. 417 rows rejected and recorded, not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874773"/>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
MPLADS Guidelines, MoSPI - permissible works, sanction ceilings, entitlement per MP.</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